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85" r:id="rId2"/>
    <p:sldId id="286" r:id="rId3"/>
    <p:sldId id="261" r:id="rId4"/>
    <p:sldId id="260" r:id="rId5"/>
    <p:sldId id="264" r:id="rId6"/>
    <p:sldId id="263" r:id="rId7"/>
    <p:sldId id="269" r:id="rId8"/>
    <p:sldId id="268" r:id="rId9"/>
    <p:sldId id="270" r:id="rId10"/>
    <p:sldId id="328" r:id="rId11"/>
    <p:sldId id="327" r:id="rId12"/>
    <p:sldId id="277" r:id="rId13"/>
    <p:sldId id="276" r:id="rId14"/>
    <p:sldId id="275" r:id="rId15"/>
    <p:sldId id="274" r:id="rId16"/>
    <p:sldId id="271" r:id="rId17"/>
    <p:sldId id="283" r:id="rId18"/>
    <p:sldId id="282" r:id="rId19"/>
    <p:sldId id="281" r:id="rId20"/>
    <p:sldId id="280" r:id="rId21"/>
    <p:sldId id="279" r:id="rId22"/>
    <p:sldId id="278" r:id="rId23"/>
    <p:sldId id="326" r:id="rId24"/>
    <p:sldId id="325" r:id="rId25"/>
    <p:sldId id="284" r:id="rId26"/>
    <p:sldId id="291" r:id="rId27"/>
    <p:sldId id="292" r:id="rId28"/>
    <p:sldId id="293" r:id="rId29"/>
    <p:sldId id="294" r:id="rId30"/>
    <p:sldId id="295" r:id="rId31"/>
    <p:sldId id="296" r:id="rId32"/>
    <p:sldId id="318" r:id="rId33"/>
    <p:sldId id="320" r:id="rId34"/>
    <p:sldId id="321" r:id="rId35"/>
    <p:sldId id="322" r:id="rId36"/>
    <p:sldId id="323" r:id="rId37"/>
    <p:sldId id="32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605C5C"/>
    <a:srgbClr val="4D7830"/>
    <a:srgbClr val="283F19"/>
    <a:srgbClr val="43682A"/>
    <a:srgbClr val="E32B4A"/>
    <a:srgbClr val="FF0066"/>
    <a:srgbClr val="000000"/>
    <a:srgbClr val="86813A"/>
    <a:srgbClr val="8EB1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 autoAdjust="0"/>
    <p:restoredTop sz="94660"/>
  </p:normalViewPr>
  <p:slideViewPr>
    <p:cSldViewPr snapToGrid="0">
      <p:cViewPr>
        <p:scale>
          <a:sx n="50" d="100"/>
          <a:sy n="50" d="100"/>
        </p:scale>
        <p:origin x="1147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2F033-F1E3-4F03-9578-97D4961637EB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7D298-1801-49D2-A1CF-CA02C35F6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98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33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96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93E5C-D97A-2A9C-FE64-B44A4F42F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985B0-E326-11B2-2A8D-38B4045EC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286A8-E17F-6D51-563A-9441D23A4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72F1E-BE43-154F-CD97-958F60C21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86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7D7A-2C1D-B0ED-E485-260D705CC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A9098-3185-70D9-3CB8-D7AE74A3B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54855-F761-5F13-B14C-F87AA65F5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61A25-0B7D-F922-D971-AFC668E04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11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27BCF-02B6-6B82-0C48-C40A702CA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4347E-BBEE-553E-245F-F46FDE646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C26EB-42F4-F22C-562E-61B9A941F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B87E8-622A-3A92-FDFB-F61DDBEF9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58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167B9-7D07-D026-996C-6B53A8EC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E1A33-8993-07DC-0724-F638AF5B9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99BCD-A9C3-0484-16E1-8B0DB8702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E45CA-5FE0-DECB-9D3A-2F8C96AD7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24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61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03DDC-A07F-63A1-AB5D-398F3E59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72EC4-7C4A-24EF-DEE9-EF28D63C1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A05FE-FAE0-18E5-EF1E-968DCAF6E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14C63-DDA2-2FCF-09DE-D45948CB3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69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3EE15-1C31-4C89-DC02-87F0EF465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F1BE8-BF21-F56A-3842-91239B9DF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77C98-F48A-B6F9-19D3-3277DEC34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A2763-0014-9283-5C9E-139626A3E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68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4AC34-E474-3E68-C0A3-D2E1DD61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1FA4B-D79D-2013-3021-AF07CD69A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DBB2D-88B2-8636-86CC-2EE316DD2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D7F97-56F6-AD4A-C01A-F25BC0AD8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9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407ED-0C56-994C-9B30-53DAA9D27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62B11-C10F-6676-02BE-A2C6CBC81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9C6C9-D167-065C-3104-83BB8EE6A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91541-A3E6-062F-B8A7-079CF9DF4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16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24B3D-D1BB-36F7-6C81-216149024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72F81-8E2D-B021-A4A5-9A1CE0B3F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A6F36-7CBE-E4E3-6814-3C0A6E14C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8C0F8-7A39-94D0-FA58-9FB4CC894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89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7D298-1801-49D2-A1CF-CA02C35F699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53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8428-6207-E71D-975F-385FEF1C8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A8446-B419-BB88-1387-112C9F235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68EDF-D38C-92D0-D229-67F27650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F7E7F-B946-994F-9B72-1FA8F2CBA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E6F49-2BD9-FCB1-21E0-81AE3399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9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AD42-7692-A582-534B-8D1686B6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EE784-CA09-D0FD-8F90-A55603387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5CA4C-9B03-AD8B-7AC0-4D46E085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EAB91-DC73-274A-3B63-E6FE0F74C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310D7-B74E-6849-9A35-E58B529B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8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6D7D-13F1-5C51-74E7-58A05991C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99A45-D2DC-BDFB-0910-08934578C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96BCD-A618-7C87-91BE-497E96D7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FCDF1-1735-D107-E86A-743C73483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34CDF-6AF6-328F-A653-7522109E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89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6693A-52C6-E5C8-336E-78B01D62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1DCE1-53C0-CB27-5E46-035C99FFA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152B1-896E-136A-DC90-74F3E984D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3E0B4-2E54-CA12-DB22-5E62D5DF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95E6D-F15E-3B9B-996F-A040DBCF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78F41-D712-648C-F599-8A44D70B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4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C233C-2874-2A84-4984-223D4EC9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984E8-B012-AAB6-0A14-80A9EDBCF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17374-62A4-8766-6D61-D20744B92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84AD8-DD00-E085-A66E-D8EEA9C57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F454A-2F25-41D4-D09F-200D87039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2FA3D0-3714-37C0-D06C-62A46D597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F16576-21BC-C716-E1CE-7916F43C2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E148E-22DF-EE5F-6526-E1C10D222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5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34D3-C23D-9CB7-0065-7EA292CA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6C861-673F-8BBC-1F90-4EB8EAF8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D7AF3-C61F-3172-FE69-FBA9AD59E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8BBBB-5F2E-2A1E-96C2-8988B5548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17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5E1DA-D499-33E3-78E1-DD5FF3754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B2121-607D-2044-DD81-A095DDF60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0DC00-41E1-E0FC-5CCE-74C63422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69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F3E0-CCDE-C61B-CF82-70918CB9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3BAEF-6143-2DDE-FA74-C08D8493E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B9451-451C-F6CF-E461-154DA6F8D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9658F-7A26-FFB9-FC50-4033E5988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E7134-6E3C-99E8-7944-B88023E56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0BF24-BD6F-00E4-A9E7-AE74BD189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27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72B7-6D09-95B2-1F01-EF436D1B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9AFCC6-D7DB-003C-C9EF-FD00FC9EB6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C87BF-B0EB-4AC4-A402-390CB745B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4951B-6F54-4BBD-7193-96832107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E5557-2958-4E3C-878B-78B068527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8B33E-677E-560C-6ADE-7593951A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6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F684-CBDB-5A97-D2A4-3397AD124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37D50-DFED-AD23-FE45-A24B92DCE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D96F-D1F6-1851-2EA0-E5BB30C0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787B1-865A-55A2-32EA-4F9952D5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1017E-DE54-9683-67DF-6C5FFC66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2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D4F65F-9932-3DEF-7DD0-1B759CD45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3AFAA-42A2-69B1-7045-5B69E378E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6B4F2-DD10-0072-1718-C39DE58F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E318D-19FA-2C4C-A6FD-CC7CAB27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A8ED6-B420-EFA0-1F6C-604DDCC0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2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0627D-EE08-9FE5-3A90-0A8D90845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0ECED-75E0-72A7-6B7D-9FCD3B19A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E980D-9043-D97D-200C-04CDA92E5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ABBE7-8846-4079-8770-3A1B50FB62F1}" type="datetimeFigureOut">
              <a:rPr lang="en-US" smtClean="0"/>
              <a:t>07-Dec-24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3442D-E09D-CFFF-3424-BC7F1FC3E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88446-CF92-EEB1-1664-348048F34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A66BA-A2C0-4002-B50C-B99E6FDF7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0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00E5D5-DA4D-1CB4-9877-267BA66F19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444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8C3BDB-7366-6723-D9AA-9EBFEA29C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547" y="4995442"/>
            <a:ext cx="2700762" cy="27007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8E5853-8A03-128B-A5C5-7FFC299C6215}"/>
              </a:ext>
            </a:extLst>
          </p:cNvPr>
          <p:cNvSpPr txBox="1"/>
          <p:nvPr/>
        </p:nvSpPr>
        <p:spPr>
          <a:xfrm>
            <a:off x="1081667" y="1081670"/>
            <a:ext cx="97238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rPr>
              <a:t>Inventory Management System For Emergency Supplies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080118-845E-8C10-ECC4-A64A07C192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48010">
            <a:off x="739775" y="4995442"/>
            <a:ext cx="2700762" cy="27007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21BE0A-4EE2-8912-1272-F85D39A8D5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6688350">
            <a:off x="495256" y="6032723"/>
            <a:ext cx="2700762" cy="27007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CC1EB3-81C9-F509-7D8E-54601A4192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382494">
            <a:off x="10149906" y="-882148"/>
            <a:ext cx="2410650" cy="24106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E44105-4B19-D765-BA86-FEA71C9D49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2004" y="0"/>
            <a:ext cx="491843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3A5C69-568A-F12D-4A75-F8DDFC525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104700">
            <a:off x="10487775" y="286521"/>
            <a:ext cx="2410650" cy="2410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823573-30FD-D2E1-B3F0-BD191FEB3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753590">
            <a:off x="10986675" y="-961859"/>
            <a:ext cx="2410650" cy="24106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511A1A-C038-2892-205E-9B237403F903}"/>
              </a:ext>
            </a:extLst>
          </p:cNvPr>
          <p:cNvSpPr txBox="1"/>
          <p:nvPr/>
        </p:nvSpPr>
        <p:spPr>
          <a:xfrm>
            <a:off x="13630590" y="2396077"/>
            <a:ext cx="7226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Inventory Management System for Emergency Supplies is </a:t>
            </a:r>
          </a:p>
          <a:p>
            <a:r>
              <a:rPr lang="en-US" dirty="0"/>
              <a:t>specialized and focused on managing critical supplies needed in </a:t>
            </a:r>
          </a:p>
          <a:p>
            <a:r>
              <a:rPr lang="en-US" dirty="0"/>
              <a:t>emergencies.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0103A2-B536-D962-4097-06AD80786D49}"/>
              </a:ext>
            </a:extLst>
          </p:cNvPr>
          <p:cNvSpPr txBox="1"/>
          <p:nvPr/>
        </p:nvSpPr>
        <p:spPr>
          <a:xfrm>
            <a:off x="13630590" y="3733769"/>
            <a:ext cx="10825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Inventory Management System For Emergency Supplies </a:t>
            </a:r>
          </a:p>
        </p:txBody>
      </p:sp>
    </p:spTree>
    <p:extLst>
      <p:ext uri="{BB962C8B-B14F-4D97-AF65-F5344CB8AC3E}">
        <p14:creationId xmlns:p14="http://schemas.microsoft.com/office/powerpoint/2010/main" val="2882580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E4F33-5EFB-ADD9-4308-691D8AC4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06600E-3F0E-9991-CDBF-FB014DBF7E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445" t="319" b="-31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A5033C-EC9A-C66B-BC5E-0E0E7760B5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872761" y="5196165"/>
            <a:ext cx="2700762" cy="27007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C3D8D8-0FC6-76D1-70A3-826590754C61}"/>
              </a:ext>
            </a:extLst>
          </p:cNvPr>
          <p:cNvSpPr txBox="1"/>
          <p:nvPr/>
        </p:nvSpPr>
        <p:spPr>
          <a:xfrm>
            <a:off x="-22159333" y="1252015"/>
            <a:ext cx="97238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rPr>
              <a:t>Inventory Management System For Emergency Supplies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6A508D-C21E-815F-6E03-F9FAD814D5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48010">
            <a:off x="-323439" y="5196165"/>
            <a:ext cx="2700762" cy="27007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81D955-C347-D2CD-26DB-764CEFBC0B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6688350">
            <a:off x="-662626" y="6377641"/>
            <a:ext cx="2700762" cy="27007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0E73C1-B8A1-549E-AE51-D10B7E67A95A}"/>
              </a:ext>
            </a:extLst>
          </p:cNvPr>
          <p:cNvSpPr/>
          <p:nvPr/>
        </p:nvSpPr>
        <p:spPr>
          <a:xfrm>
            <a:off x="5827493" y="0"/>
            <a:ext cx="6364507" cy="6880302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6A0A4F-42D0-4906-3D13-376841F2E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382494">
            <a:off x="10328326" y="-848309"/>
            <a:ext cx="2410650" cy="2410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A658B4-3D14-1F10-1215-C35D0BF03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104700">
            <a:off x="10666195" y="320360"/>
            <a:ext cx="2410650" cy="2410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3D4DE7-F0D7-EBC0-CDB5-2A7225E7B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753590">
            <a:off x="11411814" y="-805661"/>
            <a:ext cx="2410650" cy="24106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953F84-4B51-B8BE-FEF3-FACF59ACC1EE}"/>
              </a:ext>
            </a:extLst>
          </p:cNvPr>
          <p:cNvSpPr txBox="1"/>
          <p:nvPr/>
        </p:nvSpPr>
        <p:spPr>
          <a:xfrm>
            <a:off x="6444713" y="4226669"/>
            <a:ext cx="51300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Agency FB" panose="020B0503020202020204" pitchFamily="34" charset="0"/>
              </a:rPr>
              <a:t>The System is specialized and focused to improve  the efficiency, speed, and 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Agency FB" panose="020B0503020202020204" pitchFamily="34" charset="0"/>
              </a:rPr>
              <a:t>effectiveness of emergency response operations, ultimately saving lives </a:t>
            </a:r>
          </a:p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Agency FB" panose="020B0503020202020204" pitchFamily="34" charset="0"/>
              </a:rPr>
              <a:t>and reducing suffering during crises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D8ACE-3C3B-462A-BB7A-87C580678CFD}"/>
              </a:ext>
            </a:extLst>
          </p:cNvPr>
          <p:cNvSpPr txBox="1"/>
          <p:nvPr/>
        </p:nvSpPr>
        <p:spPr>
          <a:xfrm>
            <a:off x="6444712" y="1670180"/>
            <a:ext cx="5130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rPr>
              <a:t>Inventory Management System For Emergency Supplies </a:t>
            </a:r>
          </a:p>
        </p:txBody>
      </p:sp>
    </p:spTree>
    <p:extLst>
      <p:ext uri="{BB962C8B-B14F-4D97-AF65-F5344CB8AC3E}">
        <p14:creationId xmlns:p14="http://schemas.microsoft.com/office/powerpoint/2010/main" val="2431430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chemeClr val="bg2">
                <a:lumMod val="25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bg2">
                <a:lumMod val="2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975B4-39F4-7EE8-BBBE-88B5847C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C5FAE37A-AF12-E8FD-2C2B-847C2A573F56}"/>
              </a:ext>
            </a:extLst>
          </p:cNvPr>
          <p:cNvGrpSpPr/>
          <p:nvPr/>
        </p:nvGrpSpPr>
        <p:grpSpPr>
          <a:xfrm>
            <a:off x="-3254010" y="0"/>
            <a:ext cx="4904133" cy="6858000"/>
            <a:chOff x="8321647" y="0"/>
            <a:chExt cx="4904133" cy="6858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C09D61A-606D-08C2-2231-B81EB825EBB7}"/>
                </a:ext>
              </a:extLst>
            </p:cNvPr>
            <p:cNvSpPr/>
            <p:nvPr/>
          </p:nvSpPr>
          <p:spPr>
            <a:xfrm>
              <a:off x="8321647" y="0"/>
              <a:ext cx="4904133" cy="6858000"/>
            </a:xfrm>
            <a:custGeom>
              <a:avLst/>
              <a:gdLst>
                <a:gd name="connsiteX0" fmla="*/ 0 w 4904133"/>
                <a:gd name="connsiteY0" fmla="*/ 0 h 6858000"/>
                <a:gd name="connsiteX1" fmla="*/ 4333461 w 4904133"/>
                <a:gd name="connsiteY1" fmla="*/ 0 h 6858000"/>
                <a:gd name="connsiteX2" fmla="*/ 4333461 w 4904133"/>
                <a:gd name="connsiteY2" fmla="*/ 2105057 h 6858000"/>
                <a:gd name="connsiteX3" fmla="*/ 4904133 w 4904133"/>
                <a:gd name="connsiteY3" fmla="*/ 2656234 h 6858000"/>
                <a:gd name="connsiteX4" fmla="*/ 4333461 w 4904133"/>
                <a:gd name="connsiteY4" fmla="*/ 3207410 h 6858000"/>
                <a:gd name="connsiteX5" fmla="*/ 4333461 w 4904133"/>
                <a:gd name="connsiteY5" fmla="*/ 6858000 h 6858000"/>
                <a:gd name="connsiteX6" fmla="*/ 0 w 490413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04133" h="6858000">
                  <a:moveTo>
                    <a:pt x="0" y="0"/>
                  </a:moveTo>
                  <a:lnTo>
                    <a:pt x="4333461" y="0"/>
                  </a:lnTo>
                  <a:lnTo>
                    <a:pt x="4333461" y="2105057"/>
                  </a:lnTo>
                  <a:lnTo>
                    <a:pt x="4904133" y="2656234"/>
                  </a:lnTo>
                  <a:lnTo>
                    <a:pt x="4333461" y="3207410"/>
                  </a:lnTo>
                  <a:lnTo>
                    <a:pt x="433346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3D9E312-F566-8F0C-1C28-46936E81004A}"/>
                </a:ext>
              </a:extLst>
            </p:cNvPr>
            <p:cNvSpPr/>
            <p:nvPr/>
          </p:nvSpPr>
          <p:spPr>
            <a:xfrm>
              <a:off x="9456516" y="669073"/>
              <a:ext cx="2063725" cy="2007220"/>
            </a:xfrm>
            <a:prstGeom prst="ellipse">
              <a:avLst/>
            </a:prstGeom>
            <a:blipFill>
              <a:blip r:embed="rId3"/>
              <a:stretch>
                <a:fillRect l="1000" t="1000" r="-5000" b="2000"/>
              </a:stretch>
            </a:blipFill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2B708CB-A275-079C-C326-F9C32710F581}"/>
                </a:ext>
              </a:extLst>
            </p:cNvPr>
            <p:cNvSpPr txBox="1"/>
            <p:nvPr/>
          </p:nvSpPr>
          <p:spPr>
            <a:xfrm>
              <a:off x="8742556" y="3327917"/>
              <a:ext cx="3576571" cy="1200329"/>
            </a:xfrm>
            <a:prstGeom prst="rect">
              <a:avLst/>
            </a:prstGeom>
            <a:noFill/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/>
                <a:t>Tanisha Taranoon Hridy</a:t>
              </a:r>
            </a:p>
            <a:p>
              <a:r>
                <a:rPr lang="en-US"/>
                <a:t>Id:22201169</a:t>
              </a:r>
            </a:p>
            <a:p>
              <a:r>
                <a:rPr lang="en-US"/>
                <a:t>Section :D(1)</a:t>
              </a:r>
            </a:p>
            <a:p>
              <a:r>
                <a:rPr lang="en-US"/>
                <a:t>Email: 22201169@uap-bd.edu</a:t>
              </a:r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BF34FB9-8AD8-7F37-0253-C18B92B5B7D2}"/>
              </a:ext>
            </a:extLst>
          </p:cNvPr>
          <p:cNvGrpSpPr/>
          <p:nvPr/>
        </p:nvGrpSpPr>
        <p:grpSpPr>
          <a:xfrm>
            <a:off x="-3441975" y="0"/>
            <a:ext cx="4773209" cy="6858000"/>
            <a:chOff x="4133987" y="0"/>
            <a:chExt cx="4773209" cy="685800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D832CC7-8C0E-8022-4124-45E6A165345C}"/>
                </a:ext>
              </a:extLst>
            </p:cNvPr>
            <p:cNvSpPr/>
            <p:nvPr/>
          </p:nvSpPr>
          <p:spPr>
            <a:xfrm>
              <a:off x="4133987" y="0"/>
              <a:ext cx="4773209" cy="6858000"/>
            </a:xfrm>
            <a:custGeom>
              <a:avLst/>
              <a:gdLst>
                <a:gd name="connsiteX0" fmla="*/ 0 w 4773209"/>
                <a:gd name="connsiteY0" fmla="*/ 0 h 6858000"/>
                <a:gd name="connsiteX1" fmla="*/ 4216399 w 4773209"/>
                <a:gd name="connsiteY1" fmla="*/ 0 h 6858000"/>
                <a:gd name="connsiteX2" fmla="*/ 4216399 w 4773209"/>
                <a:gd name="connsiteY2" fmla="*/ 2017362 h 6858000"/>
                <a:gd name="connsiteX3" fmla="*/ 4773209 w 4773209"/>
                <a:gd name="connsiteY3" fmla="*/ 2555151 h 6858000"/>
                <a:gd name="connsiteX4" fmla="*/ 4216399 w 4773209"/>
                <a:gd name="connsiteY4" fmla="*/ 3092939 h 6858000"/>
                <a:gd name="connsiteX5" fmla="*/ 4216399 w 4773209"/>
                <a:gd name="connsiteY5" fmla="*/ 6858000 h 6858000"/>
                <a:gd name="connsiteX6" fmla="*/ 0 w 4773209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73209" h="6858000">
                  <a:moveTo>
                    <a:pt x="0" y="0"/>
                  </a:moveTo>
                  <a:lnTo>
                    <a:pt x="4216399" y="0"/>
                  </a:lnTo>
                  <a:lnTo>
                    <a:pt x="4216399" y="2017362"/>
                  </a:lnTo>
                  <a:lnTo>
                    <a:pt x="4773209" y="2555151"/>
                  </a:lnTo>
                  <a:lnTo>
                    <a:pt x="4216399" y="3092939"/>
                  </a:lnTo>
                  <a:lnTo>
                    <a:pt x="421639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4D52E08-AE39-51E0-394D-8395135B9FEE}"/>
                </a:ext>
              </a:extLst>
            </p:cNvPr>
            <p:cNvSpPr/>
            <p:nvPr/>
          </p:nvSpPr>
          <p:spPr>
            <a:xfrm>
              <a:off x="5125098" y="649013"/>
              <a:ext cx="2063725" cy="2007220"/>
            </a:xfrm>
            <a:prstGeom prst="ellipse">
              <a:avLst/>
            </a:prstGeom>
            <a:blipFill>
              <a:blip r:embed="rId4"/>
              <a:stretch>
                <a:fillRect l="1000" t="1000" r="-5000" b="2000"/>
              </a:stretch>
            </a:blipFill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F992F8-4CCF-51BF-F95F-632420865F30}"/>
                </a:ext>
              </a:extLst>
            </p:cNvPr>
            <p:cNvSpPr txBox="1"/>
            <p:nvPr/>
          </p:nvSpPr>
          <p:spPr>
            <a:xfrm>
              <a:off x="4516244" y="3429000"/>
              <a:ext cx="3356517" cy="1200329"/>
            </a:xfrm>
            <a:prstGeom prst="rect">
              <a:avLst/>
            </a:prstGeom>
            <a:noFill/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Hridita</a:t>
              </a:r>
              <a:r>
                <a:rPr lang="en-US" dirty="0"/>
                <a:t> Lasker                  Id:22201184</a:t>
              </a:r>
            </a:p>
            <a:p>
              <a:r>
                <a:rPr lang="en-US" dirty="0"/>
                <a:t>Section :D(1)</a:t>
              </a:r>
            </a:p>
            <a:p>
              <a:r>
                <a:rPr lang="en-US" dirty="0"/>
                <a:t>Email:22201184@uap-bd.edu 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60AA1F-C21A-335C-1DF7-6F3CB759E032}"/>
              </a:ext>
            </a:extLst>
          </p:cNvPr>
          <p:cNvGrpSpPr/>
          <p:nvPr/>
        </p:nvGrpSpPr>
        <p:grpSpPr>
          <a:xfrm>
            <a:off x="-3691730" y="0"/>
            <a:ext cx="4661450" cy="6858000"/>
            <a:chOff x="0" y="0"/>
            <a:chExt cx="4661450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AB10419-7FE4-D851-1438-0274D741D490}"/>
                </a:ext>
              </a:extLst>
            </p:cNvPr>
            <p:cNvSpPr/>
            <p:nvPr/>
          </p:nvSpPr>
          <p:spPr>
            <a:xfrm rot="5400000">
              <a:off x="-1098275" y="1098275"/>
              <a:ext cx="6858000" cy="4661450"/>
            </a:xfrm>
            <a:custGeom>
              <a:avLst/>
              <a:gdLst>
                <a:gd name="connsiteX0" fmla="*/ 0 w 6858000"/>
                <a:gd name="connsiteY0" fmla="*/ 4661450 h 4661450"/>
                <a:gd name="connsiteX1" fmla="*/ 0 w 6858000"/>
                <a:gd name="connsiteY1" fmla="*/ 556811 h 4661450"/>
                <a:gd name="connsiteX2" fmla="*/ 1850091 w 6858000"/>
                <a:gd name="connsiteY2" fmla="*/ 556811 h 4661450"/>
                <a:gd name="connsiteX3" fmla="*/ 2387880 w 6858000"/>
                <a:gd name="connsiteY3" fmla="*/ 0 h 4661450"/>
                <a:gd name="connsiteX4" fmla="*/ 2925668 w 6858000"/>
                <a:gd name="connsiteY4" fmla="*/ 556811 h 4661450"/>
                <a:gd name="connsiteX5" fmla="*/ 6858000 w 6858000"/>
                <a:gd name="connsiteY5" fmla="*/ 556811 h 4661450"/>
                <a:gd name="connsiteX6" fmla="*/ 6858000 w 6858000"/>
                <a:gd name="connsiteY6" fmla="*/ 4661450 h 466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4661450">
                  <a:moveTo>
                    <a:pt x="0" y="4661450"/>
                  </a:moveTo>
                  <a:lnTo>
                    <a:pt x="0" y="556811"/>
                  </a:lnTo>
                  <a:lnTo>
                    <a:pt x="1850091" y="556811"/>
                  </a:lnTo>
                  <a:lnTo>
                    <a:pt x="2387880" y="0"/>
                  </a:lnTo>
                  <a:lnTo>
                    <a:pt x="2925668" y="556811"/>
                  </a:lnTo>
                  <a:lnTo>
                    <a:pt x="6858000" y="556811"/>
                  </a:lnTo>
                  <a:lnTo>
                    <a:pt x="6858000" y="466145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7C4027-D42E-E737-A1AC-2A526052CDA8}"/>
                </a:ext>
              </a:extLst>
            </p:cNvPr>
            <p:cNvSpPr/>
            <p:nvPr/>
          </p:nvSpPr>
          <p:spPr>
            <a:xfrm>
              <a:off x="777169" y="669073"/>
              <a:ext cx="2063725" cy="2007220"/>
            </a:xfrm>
            <a:prstGeom prst="ellipse">
              <a:avLst/>
            </a:prstGeom>
            <a:blipFill>
              <a:blip r:embed="rId5"/>
              <a:stretch>
                <a:fillRect l="1000" t="1000" r="-5000" b="2000"/>
              </a:stretch>
            </a:blipFill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6C160C4-1234-56E5-3E89-B280E9186C7A}"/>
                </a:ext>
              </a:extLst>
            </p:cNvPr>
            <p:cNvSpPr txBox="1"/>
            <p:nvPr/>
          </p:nvSpPr>
          <p:spPr>
            <a:xfrm>
              <a:off x="423746" y="3327917"/>
              <a:ext cx="3124084" cy="1200329"/>
            </a:xfrm>
            <a:prstGeom prst="rect">
              <a:avLst/>
            </a:prstGeom>
            <a:noFill/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Jannatul</a:t>
              </a:r>
              <a:r>
                <a:rPr lang="en-US" dirty="0"/>
                <a:t> </a:t>
              </a:r>
              <a:r>
                <a:rPr lang="en-US" dirty="0" err="1"/>
                <a:t>Fardaus</a:t>
              </a:r>
              <a:r>
                <a:rPr lang="en-US" dirty="0"/>
                <a:t> </a:t>
              </a:r>
              <a:r>
                <a:rPr lang="en-US" dirty="0" err="1"/>
                <a:t>Nirjum</a:t>
              </a:r>
              <a:r>
                <a:rPr lang="en-US" dirty="0"/>
                <a:t>  </a:t>
              </a:r>
            </a:p>
            <a:p>
              <a:r>
                <a:rPr lang="en-US" dirty="0"/>
                <a:t>Id: 22201193 </a:t>
              </a:r>
            </a:p>
            <a:p>
              <a:r>
                <a:rPr lang="en-US" dirty="0"/>
                <a:t>Section : D(1)</a:t>
              </a:r>
            </a:p>
            <a:p>
              <a:r>
                <a:rPr lang="en-US" dirty="0"/>
                <a:t>Email:22201193@uap-bd.edu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FA1B685-33ED-89D1-8DF7-E97FEE291C43}"/>
              </a:ext>
            </a:extLst>
          </p:cNvPr>
          <p:cNvSpPr txBox="1"/>
          <p:nvPr/>
        </p:nvSpPr>
        <p:spPr>
          <a:xfrm>
            <a:off x="4438926" y="2659695"/>
            <a:ext cx="3314149" cy="2007220"/>
          </a:xfrm>
          <a:prstGeom prst="rect">
            <a:avLst/>
          </a:prstGeom>
          <a:noFill/>
          <a:effectLst>
            <a:outerShdw blurRad="762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5EAFC-D82F-726F-175C-A99C18AB32A5}"/>
              </a:ext>
            </a:extLst>
          </p:cNvPr>
          <p:cNvSpPr txBox="1"/>
          <p:nvPr/>
        </p:nvSpPr>
        <p:spPr>
          <a:xfrm>
            <a:off x="2012152" y="1936500"/>
            <a:ext cx="816769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Submitted By </a:t>
            </a:r>
          </a:p>
          <a:p>
            <a:pPr algn="ctr"/>
            <a:r>
              <a:rPr lang="en-US" sz="5400" dirty="0">
                <a:solidFill>
                  <a:schemeClr val="bg1">
                    <a:lumMod val="95000"/>
                  </a:schemeClr>
                </a:solidFill>
                <a:effectLst>
                  <a:outerShdw blurRad="76200" dist="38100" dir="16200000" rotWithShape="0">
                    <a:prstClr val="black">
                      <a:alpha val="39000"/>
                    </a:prstClr>
                  </a:outerShdw>
                </a:effectLst>
                <a:latin typeface="Wide Latin" panose="020A0A07050505020404" pitchFamily="18" charset="0"/>
              </a:rPr>
              <a:t>Inventory Innovators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07DBB-16CA-7B94-C61F-74FFE452605E}"/>
              </a:ext>
            </a:extLst>
          </p:cNvPr>
          <p:cNvSpPr txBox="1"/>
          <p:nvPr/>
        </p:nvSpPr>
        <p:spPr>
          <a:xfrm>
            <a:off x="9625051" y="-4724703"/>
            <a:ext cx="3314149" cy="2007220"/>
          </a:xfrm>
          <a:prstGeom prst="rect">
            <a:avLst/>
          </a:prstGeom>
          <a:noFill/>
          <a:effectLst>
            <a:outerShdw blurRad="762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63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5000">
              <a:schemeClr val="bg2">
                <a:lumMod val="25000"/>
              </a:schemeClr>
            </a:gs>
            <a:gs pos="46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bg2">
                <a:lumMod val="25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07E069D-1CEE-91B6-D758-6F6CE6BFD148}"/>
              </a:ext>
            </a:extLst>
          </p:cNvPr>
          <p:cNvGrpSpPr/>
          <p:nvPr/>
        </p:nvGrpSpPr>
        <p:grpSpPr>
          <a:xfrm>
            <a:off x="8284060" y="0"/>
            <a:ext cx="4904133" cy="6858000"/>
            <a:chOff x="8321647" y="0"/>
            <a:chExt cx="4904133" cy="6858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A050E39-B686-982D-8557-E33C49629A5C}"/>
                </a:ext>
              </a:extLst>
            </p:cNvPr>
            <p:cNvSpPr/>
            <p:nvPr/>
          </p:nvSpPr>
          <p:spPr>
            <a:xfrm>
              <a:off x="8321647" y="0"/>
              <a:ext cx="4904133" cy="6858000"/>
            </a:xfrm>
            <a:custGeom>
              <a:avLst/>
              <a:gdLst>
                <a:gd name="connsiteX0" fmla="*/ 0 w 4904133"/>
                <a:gd name="connsiteY0" fmla="*/ 0 h 6858000"/>
                <a:gd name="connsiteX1" fmla="*/ 4333461 w 4904133"/>
                <a:gd name="connsiteY1" fmla="*/ 0 h 6858000"/>
                <a:gd name="connsiteX2" fmla="*/ 4333461 w 4904133"/>
                <a:gd name="connsiteY2" fmla="*/ 2105057 h 6858000"/>
                <a:gd name="connsiteX3" fmla="*/ 4904133 w 4904133"/>
                <a:gd name="connsiteY3" fmla="*/ 2656234 h 6858000"/>
                <a:gd name="connsiteX4" fmla="*/ 4333461 w 4904133"/>
                <a:gd name="connsiteY4" fmla="*/ 3207410 h 6858000"/>
                <a:gd name="connsiteX5" fmla="*/ 4333461 w 4904133"/>
                <a:gd name="connsiteY5" fmla="*/ 6858000 h 6858000"/>
                <a:gd name="connsiteX6" fmla="*/ 0 w 490413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04133" h="6858000">
                  <a:moveTo>
                    <a:pt x="0" y="0"/>
                  </a:moveTo>
                  <a:lnTo>
                    <a:pt x="4333461" y="0"/>
                  </a:lnTo>
                  <a:lnTo>
                    <a:pt x="4333461" y="2105057"/>
                  </a:lnTo>
                  <a:lnTo>
                    <a:pt x="4904133" y="2656234"/>
                  </a:lnTo>
                  <a:lnTo>
                    <a:pt x="4333461" y="3207410"/>
                  </a:lnTo>
                  <a:lnTo>
                    <a:pt x="433346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54FB0AA-4513-74FC-2F49-32CE08547C54}"/>
                </a:ext>
              </a:extLst>
            </p:cNvPr>
            <p:cNvSpPr/>
            <p:nvPr/>
          </p:nvSpPr>
          <p:spPr>
            <a:xfrm>
              <a:off x="9456516" y="669073"/>
              <a:ext cx="2063725" cy="2007220"/>
            </a:xfrm>
            <a:prstGeom prst="ellipse">
              <a:avLst/>
            </a:prstGeom>
            <a:blipFill>
              <a:blip r:embed="rId3"/>
              <a:stretch>
                <a:fillRect l="1000" t="1000" r="-5000" b="2000"/>
              </a:stretch>
            </a:blipFill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AE99CF5-033A-30F1-E333-589448D648EE}"/>
                </a:ext>
              </a:extLst>
            </p:cNvPr>
            <p:cNvSpPr txBox="1"/>
            <p:nvPr/>
          </p:nvSpPr>
          <p:spPr>
            <a:xfrm>
              <a:off x="8742556" y="3327917"/>
              <a:ext cx="3576571" cy="1200329"/>
            </a:xfrm>
            <a:prstGeom prst="rect">
              <a:avLst/>
            </a:prstGeom>
            <a:noFill/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/>
                <a:t>Tanisha Taranoon </a:t>
              </a:r>
              <a:r>
                <a:rPr lang="en-US" dirty="0" err="1"/>
                <a:t>Hridy</a:t>
              </a:r>
              <a:endParaRPr lang="en-US" dirty="0"/>
            </a:p>
            <a:p>
              <a:r>
                <a:rPr lang="en-US" dirty="0"/>
                <a:t>Id:22201169</a:t>
              </a:r>
            </a:p>
            <a:p>
              <a:r>
                <a:rPr lang="en-US" dirty="0"/>
                <a:t>Section :D(1)</a:t>
              </a:r>
            </a:p>
            <a:p>
              <a:r>
                <a:rPr lang="en-US" dirty="0"/>
                <a:t>Email: 22201169@uap-bd.edu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A491718-CF2E-A1A3-9CCB-F78484DA94C0}"/>
              </a:ext>
            </a:extLst>
          </p:cNvPr>
          <p:cNvGrpSpPr/>
          <p:nvPr/>
        </p:nvGrpSpPr>
        <p:grpSpPr>
          <a:xfrm>
            <a:off x="4104945" y="0"/>
            <a:ext cx="4773209" cy="6858000"/>
            <a:chOff x="4104945" y="0"/>
            <a:chExt cx="4773209" cy="685800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3C9E127-C036-3937-8962-76C932024606}"/>
                </a:ext>
              </a:extLst>
            </p:cNvPr>
            <p:cNvSpPr/>
            <p:nvPr/>
          </p:nvSpPr>
          <p:spPr>
            <a:xfrm>
              <a:off x="4104945" y="0"/>
              <a:ext cx="4773209" cy="6858000"/>
            </a:xfrm>
            <a:custGeom>
              <a:avLst/>
              <a:gdLst>
                <a:gd name="connsiteX0" fmla="*/ 0 w 4773209"/>
                <a:gd name="connsiteY0" fmla="*/ 0 h 6858000"/>
                <a:gd name="connsiteX1" fmla="*/ 4216399 w 4773209"/>
                <a:gd name="connsiteY1" fmla="*/ 0 h 6858000"/>
                <a:gd name="connsiteX2" fmla="*/ 4216399 w 4773209"/>
                <a:gd name="connsiteY2" fmla="*/ 2017362 h 6858000"/>
                <a:gd name="connsiteX3" fmla="*/ 4773209 w 4773209"/>
                <a:gd name="connsiteY3" fmla="*/ 2555151 h 6858000"/>
                <a:gd name="connsiteX4" fmla="*/ 4216399 w 4773209"/>
                <a:gd name="connsiteY4" fmla="*/ 3092939 h 6858000"/>
                <a:gd name="connsiteX5" fmla="*/ 4216399 w 4773209"/>
                <a:gd name="connsiteY5" fmla="*/ 6858000 h 6858000"/>
                <a:gd name="connsiteX6" fmla="*/ 0 w 4773209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73209" h="6858000">
                  <a:moveTo>
                    <a:pt x="0" y="0"/>
                  </a:moveTo>
                  <a:lnTo>
                    <a:pt x="4216399" y="0"/>
                  </a:lnTo>
                  <a:lnTo>
                    <a:pt x="4216399" y="2017362"/>
                  </a:lnTo>
                  <a:lnTo>
                    <a:pt x="4773209" y="2555151"/>
                  </a:lnTo>
                  <a:lnTo>
                    <a:pt x="4216399" y="3092939"/>
                  </a:lnTo>
                  <a:lnTo>
                    <a:pt x="421639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2EF4FBC-0DBF-98F3-6E77-8E6E95CB7297}"/>
                </a:ext>
              </a:extLst>
            </p:cNvPr>
            <p:cNvSpPr/>
            <p:nvPr/>
          </p:nvSpPr>
          <p:spPr>
            <a:xfrm>
              <a:off x="5125098" y="649013"/>
              <a:ext cx="2063725" cy="2007220"/>
            </a:xfrm>
            <a:prstGeom prst="ellipse">
              <a:avLst/>
            </a:prstGeom>
            <a:blipFill>
              <a:blip r:embed="rId4"/>
              <a:stretch>
                <a:fillRect l="1000" t="1000" r="-5000" b="2000"/>
              </a:stretch>
            </a:blipFill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D891891-513B-A04E-5442-8E1A913765B5}"/>
                </a:ext>
              </a:extLst>
            </p:cNvPr>
            <p:cNvSpPr txBox="1"/>
            <p:nvPr/>
          </p:nvSpPr>
          <p:spPr>
            <a:xfrm>
              <a:off x="4516244" y="3429000"/>
              <a:ext cx="3356517" cy="1200329"/>
            </a:xfrm>
            <a:prstGeom prst="rect">
              <a:avLst/>
            </a:prstGeom>
            <a:noFill/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Hridita</a:t>
              </a:r>
              <a:r>
                <a:rPr lang="en-US" dirty="0"/>
                <a:t> Lasker                  Id:22201184</a:t>
              </a:r>
            </a:p>
            <a:p>
              <a:r>
                <a:rPr lang="en-US" dirty="0"/>
                <a:t>Section :D(1)</a:t>
              </a:r>
            </a:p>
            <a:p>
              <a:r>
                <a:rPr lang="en-US" dirty="0"/>
                <a:t>Email:22201184@uap-bd.edu 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A10550-1781-75EC-8C9B-04268A8D80A1}"/>
              </a:ext>
            </a:extLst>
          </p:cNvPr>
          <p:cNvGrpSpPr/>
          <p:nvPr/>
        </p:nvGrpSpPr>
        <p:grpSpPr>
          <a:xfrm>
            <a:off x="1" y="0"/>
            <a:ext cx="4661450" cy="6858000"/>
            <a:chOff x="1" y="0"/>
            <a:chExt cx="4661450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AF92228-7B8C-8BB9-8A3C-16E357DF5668}"/>
                </a:ext>
              </a:extLst>
            </p:cNvPr>
            <p:cNvSpPr/>
            <p:nvPr/>
          </p:nvSpPr>
          <p:spPr>
            <a:xfrm rot="5400000">
              <a:off x="-1098274" y="1098275"/>
              <a:ext cx="6858000" cy="4661450"/>
            </a:xfrm>
            <a:custGeom>
              <a:avLst/>
              <a:gdLst>
                <a:gd name="connsiteX0" fmla="*/ 0 w 6858000"/>
                <a:gd name="connsiteY0" fmla="*/ 4661450 h 4661450"/>
                <a:gd name="connsiteX1" fmla="*/ 0 w 6858000"/>
                <a:gd name="connsiteY1" fmla="*/ 556811 h 4661450"/>
                <a:gd name="connsiteX2" fmla="*/ 1850091 w 6858000"/>
                <a:gd name="connsiteY2" fmla="*/ 556811 h 4661450"/>
                <a:gd name="connsiteX3" fmla="*/ 2387880 w 6858000"/>
                <a:gd name="connsiteY3" fmla="*/ 0 h 4661450"/>
                <a:gd name="connsiteX4" fmla="*/ 2925668 w 6858000"/>
                <a:gd name="connsiteY4" fmla="*/ 556811 h 4661450"/>
                <a:gd name="connsiteX5" fmla="*/ 6858000 w 6858000"/>
                <a:gd name="connsiteY5" fmla="*/ 556811 h 4661450"/>
                <a:gd name="connsiteX6" fmla="*/ 6858000 w 6858000"/>
                <a:gd name="connsiteY6" fmla="*/ 4661450 h 466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4661450">
                  <a:moveTo>
                    <a:pt x="0" y="4661450"/>
                  </a:moveTo>
                  <a:lnTo>
                    <a:pt x="0" y="556811"/>
                  </a:lnTo>
                  <a:lnTo>
                    <a:pt x="1850091" y="556811"/>
                  </a:lnTo>
                  <a:lnTo>
                    <a:pt x="2387880" y="0"/>
                  </a:lnTo>
                  <a:lnTo>
                    <a:pt x="2925668" y="556811"/>
                  </a:lnTo>
                  <a:lnTo>
                    <a:pt x="6858000" y="556811"/>
                  </a:lnTo>
                  <a:lnTo>
                    <a:pt x="6858000" y="466145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7766EE4-4E9B-D849-4D4A-D4EB5BB6897A}"/>
                </a:ext>
              </a:extLst>
            </p:cNvPr>
            <p:cNvSpPr/>
            <p:nvPr/>
          </p:nvSpPr>
          <p:spPr>
            <a:xfrm>
              <a:off x="777169" y="669073"/>
              <a:ext cx="2063725" cy="2007220"/>
            </a:xfrm>
            <a:prstGeom prst="ellipse">
              <a:avLst/>
            </a:prstGeom>
            <a:blipFill>
              <a:blip r:embed="rId5"/>
              <a:stretch>
                <a:fillRect l="1000" t="1000" r="-5000" b="2000"/>
              </a:stretch>
            </a:blipFill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D7FDEB9-CB79-8674-F2ED-AE3A033CDF9C}"/>
                </a:ext>
              </a:extLst>
            </p:cNvPr>
            <p:cNvSpPr txBox="1"/>
            <p:nvPr/>
          </p:nvSpPr>
          <p:spPr>
            <a:xfrm>
              <a:off x="424042" y="3581543"/>
              <a:ext cx="3124084" cy="1200329"/>
            </a:xfrm>
            <a:prstGeom prst="rect">
              <a:avLst/>
            </a:prstGeom>
            <a:noFill/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Jannatul</a:t>
              </a:r>
              <a:r>
                <a:rPr lang="en-US" dirty="0"/>
                <a:t> </a:t>
              </a:r>
              <a:r>
                <a:rPr lang="en-US" dirty="0" err="1"/>
                <a:t>Fardaus</a:t>
              </a:r>
              <a:r>
                <a:rPr lang="en-US" dirty="0"/>
                <a:t> </a:t>
              </a:r>
              <a:r>
                <a:rPr lang="en-US" dirty="0" err="1"/>
                <a:t>Nirjum</a:t>
              </a:r>
              <a:r>
                <a:rPr lang="en-US" dirty="0"/>
                <a:t>  </a:t>
              </a:r>
            </a:p>
            <a:p>
              <a:r>
                <a:rPr lang="en-US" dirty="0"/>
                <a:t>Id: 22201193 </a:t>
              </a:r>
            </a:p>
            <a:p>
              <a:r>
                <a:rPr lang="en-US" dirty="0"/>
                <a:t>Section : D(1)</a:t>
              </a:r>
            </a:p>
            <a:p>
              <a:r>
                <a:rPr lang="en-US" dirty="0"/>
                <a:t>Email:22201193@uap-bd.edu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C8EDD61-EEB6-FA1D-6538-5821F9451876}"/>
              </a:ext>
            </a:extLst>
          </p:cNvPr>
          <p:cNvSpPr txBox="1"/>
          <p:nvPr/>
        </p:nvSpPr>
        <p:spPr>
          <a:xfrm>
            <a:off x="9004978" y="3524636"/>
            <a:ext cx="3314149" cy="2007220"/>
          </a:xfrm>
          <a:prstGeom prst="rect">
            <a:avLst/>
          </a:prstGeom>
          <a:noFill/>
          <a:effectLst>
            <a:outerShdw blurRad="762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E8D31DD-40C2-9CDB-1931-4C50E60A9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177" y="13278044"/>
            <a:ext cx="14363584" cy="87132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0F1A4ED-374E-AE5E-0D55-46439382A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8968" y="669073"/>
            <a:ext cx="14363584" cy="721216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B9AA418-3765-962A-5C8E-4601F19FA09A}"/>
              </a:ext>
            </a:extLst>
          </p:cNvPr>
          <p:cNvSpPr txBox="1"/>
          <p:nvPr/>
        </p:nvSpPr>
        <p:spPr>
          <a:xfrm>
            <a:off x="14987625" y="2958586"/>
            <a:ext cx="896375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Submitted By 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  <a:latin typeface="Wide Latin" panose="020A0A07050505020404" pitchFamily="18" charset="0"/>
              </a:rPr>
              <a:t>Inventory Innovators </a:t>
            </a:r>
          </a:p>
        </p:txBody>
      </p:sp>
    </p:spTree>
    <p:extLst>
      <p:ext uri="{BB962C8B-B14F-4D97-AF65-F5344CB8AC3E}">
        <p14:creationId xmlns:p14="http://schemas.microsoft.com/office/powerpoint/2010/main" val="4189836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2000">
              <a:schemeClr val="accent1">
                <a:lumMod val="75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47671-BBB1-3992-FF60-93A9E1D98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B1DA16-CB6D-C0EB-D5BB-01569ACF8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0"/>
            <a:ext cx="6858000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52D0B1A-EBE2-CF1C-A23A-C08ADC748578}"/>
              </a:ext>
            </a:extLst>
          </p:cNvPr>
          <p:cNvGrpSpPr/>
          <p:nvPr/>
        </p:nvGrpSpPr>
        <p:grpSpPr>
          <a:xfrm>
            <a:off x="13324270" y="0"/>
            <a:ext cx="5430644" cy="6858000"/>
            <a:chOff x="0" y="0"/>
            <a:chExt cx="5430644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B1AF6E-6FFF-9450-1CD0-30B515C90DEF}"/>
                </a:ext>
              </a:extLst>
            </p:cNvPr>
            <p:cNvSpPr/>
            <p:nvPr/>
          </p:nvSpPr>
          <p:spPr>
            <a:xfrm>
              <a:off x="0" y="0"/>
              <a:ext cx="5430644" cy="6858000"/>
            </a:xfrm>
            <a:prstGeom prst="rect">
              <a:avLst/>
            </a:prstGeom>
            <a:gradFill flip="none" rotWithShape="1">
              <a:gsLst>
                <a:gs pos="82000">
                  <a:schemeClr val="accent1">
                    <a:lumMod val="75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4F54187-0A79-35F4-801A-E57823E28AB7}"/>
                </a:ext>
              </a:extLst>
            </p:cNvPr>
            <p:cNvSpPr txBox="1"/>
            <p:nvPr/>
          </p:nvSpPr>
          <p:spPr>
            <a:xfrm>
              <a:off x="546410" y="1527717"/>
              <a:ext cx="4787590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r>
                <a:rPr lang="en-US" sz="40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rial Black" panose="020B0A04020102020204" pitchFamily="34" charset="0"/>
                </a:rPr>
                <a:t>Alif Ruslan </a:t>
              </a:r>
            </a:p>
            <a:p>
              <a:r>
                <a:rPr lang="en-US" b="1" dirty="0"/>
                <a:t>Lecturer </a:t>
              </a:r>
            </a:p>
            <a:p>
              <a:r>
                <a:rPr lang="en-US" b="1" dirty="0"/>
                <a:t>Department of   Computer Science &amp; Engineering            </a:t>
              </a:r>
            </a:p>
            <a:p>
              <a:r>
                <a:rPr lang="en-US" b="1" dirty="0"/>
                <a:t>University of Asia Pacific </a:t>
              </a:r>
            </a:p>
            <a:p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69CC548-1517-48A1-ABFD-68300DF048FB}"/>
              </a:ext>
            </a:extLst>
          </p:cNvPr>
          <p:cNvSpPr txBox="1"/>
          <p:nvPr/>
        </p:nvSpPr>
        <p:spPr>
          <a:xfrm>
            <a:off x="1802967" y="1938834"/>
            <a:ext cx="8586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effectLst>
                  <a:outerShdw blurRad="139700" dist="88900" dir="1200000" algn="l" rotWithShape="0">
                    <a:schemeClr val="bg1">
                      <a:alpha val="36000"/>
                    </a:schemeClr>
                  </a:outerShdw>
                </a:effectLst>
                <a:latin typeface="Wide Latin" panose="020A0A07050505020404" pitchFamily="18" charset="0"/>
              </a:rPr>
              <a:t>Submitted To</a:t>
            </a:r>
          </a:p>
        </p:txBody>
      </p:sp>
    </p:spTree>
    <p:extLst>
      <p:ext uri="{BB962C8B-B14F-4D97-AF65-F5344CB8AC3E}">
        <p14:creationId xmlns:p14="http://schemas.microsoft.com/office/powerpoint/2010/main" val="233414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0CAEE8-F610-6EB8-13BC-800CB2DFA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727" y="0"/>
            <a:ext cx="6858000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AB35605-96AE-DAFE-1A60-E06F5C7CAB40}"/>
              </a:ext>
            </a:extLst>
          </p:cNvPr>
          <p:cNvGrpSpPr/>
          <p:nvPr/>
        </p:nvGrpSpPr>
        <p:grpSpPr>
          <a:xfrm>
            <a:off x="0" y="0"/>
            <a:ext cx="5430644" cy="6858000"/>
            <a:chOff x="0" y="0"/>
            <a:chExt cx="5430644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A6EA31-4863-462A-E423-EC36A88BFEDE}"/>
                </a:ext>
              </a:extLst>
            </p:cNvPr>
            <p:cNvSpPr/>
            <p:nvPr/>
          </p:nvSpPr>
          <p:spPr>
            <a:xfrm>
              <a:off x="0" y="0"/>
              <a:ext cx="5430644" cy="6858000"/>
            </a:xfrm>
            <a:prstGeom prst="rect">
              <a:avLst/>
            </a:prstGeom>
            <a:gradFill flip="none" rotWithShape="1">
              <a:gsLst>
                <a:gs pos="82000">
                  <a:schemeClr val="accent1">
                    <a:lumMod val="75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402CD35-801C-F3A4-2354-23030362009D}"/>
                </a:ext>
              </a:extLst>
            </p:cNvPr>
            <p:cNvSpPr txBox="1"/>
            <p:nvPr/>
          </p:nvSpPr>
          <p:spPr>
            <a:xfrm>
              <a:off x="546410" y="1527717"/>
              <a:ext cx="4787590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r>
                <a:rPr lang="en-US" sz="4000" dirty="0"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Arial Black" panose="020B0A04020102020204" pitchFamily="34" charset="0"/>
                </a:rPr>
                <a:t>Alif Ruslan </a:t>
              </a:r>
            </a:p>
            <a:p>
              <a:r>
                <a:rPr lang="en-US" b="1" dirty="0"/>
                <a:t>Lecturer </a:t>
              </a:r>
            </a:p>
            <a:p>
              <a:r>
                <a:rPr lang="en-US" b="1" dirty="0"/>
                <a:t>Department of   Computer Science &amp; Engineering            </a:t>
              </a:r>
            </a:p>
            <a:p>
              <a:r>
                <a:rPr lang="en-US" b="1" dirty="0"/>
                <a:t>University of Asia Pacific </a:t>
              </a:r>
            </a:p>
            <a:p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3C533D5-16CB-3C73-F47A-08987FE44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07743" y="2036657"/>
            <a:ext cx="11680948" cy="219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01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chemeClr val="bg2">
                <a:lumMod val="90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06C56-4F2D-F4E0-6CA5-636EE380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4674F8-B131-F996-3D2F-C53AD364D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08"/>
          <a:stretch/>
        </p:blipFill>
        <p:spPr>
          <a:xfrm>
            <a:off x="0" y="0"/>
            <a:ext cx="466145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8A5574-2241-5880-F227-CB6BEAF2EB29}"/>
              </a:ext>
            </a:extLst>
          </p:cNvPr>
          <p:cNvSpPr txBox="1"/>
          <p:nvPr/>
        </p:nvSpPr>
        <p:spPr>
          <a:xfrm>
            <a:off x="5800371" y="2715761"/>
            <a:ext cx="63916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effectLst>
                  <a:reflection blurRad="6350" stA="60000" endA="900" endPos="58000" dir="5400000" sy="-100000" algn="bl" rotWithShape="0"/>
                </a:effectLst>
                <a:latin typeface="Bernard MT Condensed" panose="02050806060905020404" pitchFamily="18" charset="0"/>
              </a:rPr>
              <a:t>Topic Description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0EE405C-F60C-F838-76E3-4B7C5ACC336F}"/>
              </a:ext>
            </a:extLst>
          </p:cNvPr>
          <p:cNvGrpSpPr/>
          <p:nvPr/>
        </p:nvGrpSpPr>
        <p:grpSpPr>
          <a:xfrm>
            <a:off x="4858620" y="7023324"/>
            <a:ext cx="3140765" cy="5138531"/>
            <a:chOff x="5059019" y="1480928"/>
            <a:chExt cx="3140765" cy="513853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220C0F6-AD55-0DCA-9F47-44BCAE736EBA}"/>
                </a:ext>
              </a:extLst>
            </p:cNvPr>
            <p:cNvSpPr/>
            <p:nvPr/>
          </p:nvSpPr>
          <p:spPr>
            <a:xfrm>
              <a:off x="5059019" y="1480928"/>
              <a:ext cx="3140765" cy="5138531"/>
            </a:xfrm>
            <a:prstGeom prst="roundRect">
              <a:avLst/>
            </a:prstGeom>
            <a:solidFill>
              <a:srgbClr val="3B6C85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A8BD58-780E-28D0-CA4C-2211E58127D9}"/>
                </a:ext>
              </a:extLst>
            </p:cNvPr>
            <p:cNvSpPr txBox="1"/>
            <p:nvPr/>
          </p:nvSpPr>
          <p:spPr>
            <a:xfrm>
              <a:off x="5230468" y="2176671"/>
              <a:ext cx="2574235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Bernard MT Condensed" panose="02050806060905020404" pitchFamily="18" charset="0"/>
                </a:rPr>
                <a:t>Purpose </a:t>
              </a:r>
            </a:p>
            <a:p>
              <a:pPr algn="ctr"/>
              <a:endParaRPr lang="en-US" sz="2400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Bernard MT Condensed" panose="02050806060905020404" pitchFamily="18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purpose of the project is to streamline the tracking, replenishment, and distribution of essential resources during emergencies.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94A141-81E7-0282-BE82-842842DA44DC}"/>
              </a:ext>
            </a:extLst>
          </p:cNvPr>
          <p:cNvGrpSpPr/>
          <p:nvPr/>
        </p:nvGrpSpPr>
        <p:grpSpPr>
          <a:xfrm>
            <a:off x="8464040" y="7023325"/>
            <a:ext cx="3433970" cy="5138531"/>
            <a:chOff x="8373719" y="1480928"/>
            <a:chExt cx="3433970" cy="51385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09040DE-4D51-0624-4D7C-E6EC3F0F7D6C}"/>
                </a:ext>
              </a:extLst>
            </p:cNvPr>
            <p:cNvSpPr/>
            <p:nvPr/>
          </p:nvSpPr>
          <p:spPr>
            <a:xfrm>
              <a:off x="8373719" y="1480928"/>
              <a:ext cx="3433970" cy="5138531"/>
            </a:xfrm>
            <a:prstGeom prst="roundRect">
              <a:avLst/>
            </a:prstGeom>
            <a:solidFill>
              <a:srgbClr val="3B6C85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0A954A-980E-26A0-5EF0-A7ACEC35A304}"/>
                </a:ext>
              </a:extLst>
            </p:cNvPr>
            <p:cNvSpPr txBox="1"/>
            <p:nvPr/>
          </p:nvSpPr>
          <p:spPr>
            <a:xfrm>
              <a:off x="8838373" y="1886778"/>
              <a:ext cx="2504661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2400" dirty="0">
                  <a:solidFill>
                    <a:schemeClr val="bg1"/>
                  </a:solidFill>
                  <a:latin typeface="Bernard MT Condensed" panose="02050806060905020404" pitchFamily="18" charset="0"/>
                  <a:cs typeface="Arial" panose="020B0604020202020204" pitchFamily="34" charset="0"/>
                </a:rPr>
                <a:t>Impact </a:t>
              </a:r>
            </a:p>
            <a:p>
              <a:pPr algn="ctr"/>
              <a:endParaRPr lang="en-US" sz="2400" dirty="0">
                <a:solidFill>
                  <a:schemeClr val="bg1"/>
                </a:solidFill>
                <a:latin typeface="Bernard MT Condensed" panose="02050806060905020404" pitchFamily="18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project enhances disaster response capabilities, potentially saving lives during crises. </a:t>
              </a:r>
            </a:p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 will substantially impact real life by improving </a:t>
              </a:r>
            </a:p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disaster response and emergency preparedness. 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3408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chemeClr val="bg2">
                <a:lumMod val="90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FBB8D0-F126-1B0E-D579-A1FEF9E4B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08"/>
          <a:stretch/>
        </p:blipFill>
        <p:spPr>
          <a:xfrm>
            <a:off x="0" y="0"/>
            <a:ext cx="466145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25718F-9B98-C34F-6B97-4DA6A261F52D}"/>
              </a:ext>
            </a:extLst>
          </p:cNvPr>
          <p:cNvSpPr txBox="1"/>
          <p:nvPr/>
        </p:nvSpPr>
        <p:spPr>
          <a:xfrm>
            <a:off x="6629402" y="486726"/>
            <a:ext cx="5178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effectLst>
                  <a:reflection blurRad="6350" stA="60000" endA="900" endPos="58000" dir="5400000" sy="-100000" algn="bl" rotWithShape="0"/>
                </a:effectLst>
                <a:latin typeface="Bernard MT Condensed" panose="02050806060905020404" pitchFamily="18" charset="0"/>
              </a:rPr>
              <a:t>Topic Description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44B17E-2F99-EA20-8975-C8242088C133}"/>
              </a:ext>
            </a:extLst>
          </p:cNvPr>
          <p:cNvGrpSpPr/>
          <p:nvPr/>
        </p:nvGrpSpPr>
        <p:grpSpPr>
          <a:xfrm>
            <a:off x="5063160" y="1480928"/>
            <a:ext cx="3140765" cy="5138531"/>
            <a:chOff x="5059019" y="1480928"/>
            <a:chExt cx="3140765" cy="513853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B1B1E68-C086-3295-9211-FC74E2CA5151}"/>
                </a:ext>
              </a:extLst>
            </p:cNvPr>
            <p:cNvSpPr/>
            <p:nvPr/>
          </p:nvSpPr>
          <p:spPr>
            <a:xfrm>
              <a:off x="5059019" y="1480928"/>
              <a:ext cx="3140765" cy="5138531"/>
            </a:xfrm>
            <a:prstGeom prst="roundRect">
              <a:avLst/>
            </a:prstGeom>
            <a:solidFill>
              <a:srgbClr val="3B6C85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D315D6-C791-F5FF-71DD-0EF183AEC54E}"/>
                </a:ext>
              </a:extLst>
            </p:cNvPr>
            <p:cNvSpPr txBox="1"/>
            <p:nvPr/>
          </p:nvSpPr>
          <p:spPr>
            <a:xfrm>
              <a:off x="5230468" y="2176671"/>
              <a:ext cx="2574235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Bernard MT Condensed" panose="02050806060905020404" pitchFamily="18" charset="0"/>
                </a:rPr>
                <a:t>Purpose </a:t>
              </a:r>
            </a:p>
            <a:p>
              <a:pPr algn="ctr"/>
              <a:endParaRPr lang="en-US" sz="2400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Bernard MT Condensed" panose="02050806060905020404" pitchFamily="18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purpose of the project is to streamline the tracking, replenishment, and distribution of essential resources during emergencies.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E337C5-4A28-6F95-F765-296DB63D862B}"/>
              </a:ext>
            </a:extLst>
          </p:cNvPr>
          <p:cNvGrpSpPr/>
          <p:nvPr/>
        </p:nvGrpSpPr>
        <p:grpSpPr>
          <a:xfrm>
            <a:off x="8605633" y="1480928"/>
            <a:ext cx="3433970" cy="5138531"/>
            <a:chOff x="8373719" y="1480928"/>
            <a:chExt cx="3433970" cy="51385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E60E7D8-4E16-3390-183A-C4A9BE61B3FC}"/>
                </a:ext>
              </a:extLst>
            </p:cNvPr>
            <p:cNvSpPr/>
            <p:nvPr/>
          </p:nvSpPr>
          <p:spPr>
            <a:xfrm>
              <a:off x="8373719" y="1480928"/>
              <a:ext cx="3433970" cy="5138531"/>
            </a:xfrm>
            <a:prstGeom prst="roundRect">
              <a:avLst/>
            </a:prstGeom>
            <a:solidFill>
              <a:srgbClr val="3B6C85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5F27B3-9599-4B04-33DF-077BE28E4811}"/>
                </a:ext>
              </a:extLst>
            </p:cNvPr>
            <p:cNvSpPr txBox="1"/>
            <p:nvPr/>
          </p:nvSpPr>
          <p:spPr>
            <a:xfrm>
              <a:off x="8838373" y="1886778"/>
              <a:ext cx="2504661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2400" dirty="0">
                  <a:solidFill>
                    <a:schemeClr val="bg1"/>
                  </a:solidFill>
                  <a:latin typeface="Bernard MT Condensed" panose="02050806060905020404" pitchFamily="18" charset="0"/>
                  <a:cs typeface="Arial" panose="020B0604020202020204" pitchFamily="34" charset="0"/>
                </a:rPr>
                <a:t>Impact </a:t>
              </a:r>
            </a:p>
            <a:p>
              <a:pPr algn="ctr"/>
              <a:endParaRPr lang="en-US" sz="2400" dirty="0">
                <a:solidFill>
                  <a:schemeClr val="bg1"/>
                </a:solidFill>
                <a:latin typeface="Bernard MT Condensed" panose="02050806060905020404" pitchFamily="18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project enhances disaster response capabilities, potentially saving lives during crises. </a:t>
              </a:r>
            </a:p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 will substantially impact real life by improving </a:t>
              </a:r>
            </a:p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disaster response and emergency preparedness. 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705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7C565B-00D2-2D41-A423-6F25FBB92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DC885DC-00C4-5555-DB54-B285BEBDD3CC}"/>
              </a:ext>
            </a:extLst>
          </p:cNvPr>
          <p:cNvGrpSpPr/>
          <p:nvPr/>
        </p:nvGrpSpPr>
        <p:grpSpPr>
          <a:xfrm>
            <a:off x="1859859" y="2145589"/>
            <a:ext cx="8030817" cy="3776870"/>
            <a:chOff x="1859859" y="2145589"/>
            <a:chExt cx="8030817" cy="377687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3B75F2C-AC86-E5C6-2BED-2550343568D1}"/>
                </a:ext>
              </a:extLst>
            </p:cNvPr>
            <p:cNvSpPr/>
            <p:nvPr/>
          </p:nvSpPr>
          <p:spPr>
            <a:xfrm>
              <a:off x="1859859" y="2145589"/>
              <a:ext cx="8030817" cy="3776870"/>
            </a:xfrm>
            <a:prstGeom prst="roundRect">
              <a:avLst/>
            </a:prstGeom>
            <a:solidFill>
              <a:schemeClr val="lt1">
                <a:alpha val="57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10EC898-D6A5-1217-881B-26C2D606E45A}"/>
                </a:ext>
              </a:extLst>
            </p:cNvPr>
            <p:cNvSpPr txBox="1"/>
            <p:nvPr/>
          </p:nvSpPr>
          <p:spPr>
            <a:xfrm>
              <a:off x="2838448" y="3044059"/>
              <a:ext cx="6689035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Courier New" panose="02070309020205020404" pitchFamily="49" charset="0"/>
                <a:buChar char="o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Government Emergency Planners</a:t>
              </a:r>
            </a:p>
            <a:p>
              <a:pPr marL="342900" indent="-342900">
                <a:buFont typeface="Courier New" panose="02070309020205020404" pitchFamily="49" charset="0"/>
                <a:buChar char="o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Emergency Response Coordinators </a:t>
              </a:r>
            </a:p>
            <a:p>
              <a:pPr marL="342900" indent="-342900">
                <a:buFont typeface="Courier New" panose="02070309020205020404" pitchFamily="49" charset="0"/>
                <a:buChar char="o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First Responders</a:t>
              </a:r>
            </a:p>
            <a:p>
              <a:pPr marL="342900" indent="-342900">
                <a:buFont typeface="Courier New" panose="02070309020205020404" pitchFamily="49" charset="0"/>
                <a:buChar char="o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Medical Teams</a:t>
              </a:r>
            </a:p>
            <a:p>
              <a:pPr marL="342900" indent="-342900">
                <a:buFont typeface="Courier New" panose="02070309020205020404" pitchFamily="49" charset="0"/>
                <a:buChar char="o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Relief Workers</a:t>
              </a:r>
            </a:p>
            <a:p>
              <a:pPr marL="342900" indent="-342900">
                <a:buFont typeface="Courier New" panose="02070309020205020404" pitchFamily="49" charset="0"/>
                <a:buChar char="o"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Logistics Teams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E84472A9-B025-58C8-8B80-5B795D5CE1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62447"/>
          <a:stretch/>
        </p:blipFill>
        <p:spPr>
          <a:xfrm>
            <a:off x="0" y="1"/>
            <a:ext cx="12192000" cy="257545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5FC01C1-9D73-5C77-90D0-8215A5367626}"/>
              </a:ext>
            </a:extLst>
          </p:cNvPr>
          <p:cNvGrpSpPr/>
          <p:nvPr/>
        </p:nvGrpSpPr>
        <p:grpSpPr>
          <a:xfrm>
            <a:off x="1570795" y="1626269"/>
            <a:ext cx="8608944" cy="1038640"/>
            <a:chOff x="1791528" y="1461050"/>
            <a:chExt cx="8608944" cy="103864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C34E907-190F-89C6-2D32-B3618A385102}"/>
                </a:ext>
              </a:extLst>
            </p:cNvPr>
            <p:cNvSpPr/>
            <p:nvPr/>
          </p:nvSpPr>
          <p:spPr>
            <a:xfrm>
              <a:off x="1791528" y="1461050"/>
              <a:ext cx="8608944" cy="1038640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98000"/>
              </a:schemeClr>
            </a:solidFill>
            <a:ln>
              <a:noFill/>
            </a:ln>
            <a:effectLst>
              <a:outerShdw blurRad="152400" sx="102000" sy="102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1D41B61-AFF5-81C3-62D4-56CBA0DD27B8}"/>
                </a:ext>
              </a:extLst>
            </p:cNvPr>
            <p:cNvSpPr/>
            <p:nvPr/>
          </p:nvSpPr>
          <p:spPr>
            <a:xfrm>
              <a:off x="1938130" y="1555473"/>
              <a:ext cx="1042780" cy="854766"/>
            </a:xfrm>
            <a:prstGeom prst="ellipse">
              <a:avLst/>
            </a:prstGeom>
            <a:blipFill dpi="0" rotWithShape="1">
              <a:blip r:embed="rId5"/>
              <a:srcRect/>
              <a:stretch>
                <a:fillRect b="-7000"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9AFA15-9491-78B7-68EA-C7B590B053D1}"/>
                </a:ext>
              </a:extLst>
            </p:cNvPr>
            <p:cNvSpPr txBox="1"/>
            <p:nvPr/>
          </p:nvSpPr>
          <p:spPr>
            <a:xfrm>
              <a:off x="3201642" y="1718760"/>
              <a:ext cx="66890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Who are the users?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199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 dir="ld"/>
      </p:transition>
    </mc:Choice>
    <mc:Fallback xmlns="">
      <p:transition spd="slow">
        <p:cover dir="l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DFE69-8009-1712-5C94-B769DA3C2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01895D-CB36-F76B-E379-32D269DFF26B}"/>
              </a:ext>
            </a:extLst>
          </p:cNvPr>
          <p:cNvSpPr txBox="1"/>
          <p:nvPr/>
        </p:nvSpPr>
        <p:spPr>
          <a:xfrm>
            <a:off x="1681922" y="2251728"/>
            <a:ext cx="9772659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 contourW="12700">
              <a:bevelT w="50800" h="38100" prst="riblet"/>
              <a:bevelB w="57150" h="38100" prst="hardEdge"/>
              <a:extrusionClr>
                <a:schemeClr val="tx1">
                  <a:lumMod val="85000"/>
                  <a:lumOff val="15000"/>
                </a:schemeClr>
              </a:extrusionClr>
              <a:contourClr>
                <a:schemeClr val="tx1">
                  <a:lumMod val="95000"/>
                  <a:lumOff val="5000"/>
                </a:schemeClr>
              </a:contourClr>
            </a:sp3d>
          </a:bodyPr>
          <a:lstStyle/>
          <a:p>
            <a:r>
              <a:rPr lang="en-US" sz="9600" dirty="0">
                <a:solidFill>
                  <a:schemeClr val="bg1">
                    <a:lumMod val="95000"/>
                  </a:schemeClr>
                </a:solidFill>
                <a:effectLst>
                  <a:outerShdw blurRad="63500" dist="76200" dir="4200000" algn="bl" rotWithShape="0">
                    <a:prstClr val="black">
                      <a:alpha val="35000"/>
                    </a:prstClr>
                  </a:outerShdw>
                </a:effectLst>
                <a:latin typeface="Bernard MT Condensed" panose="02050806060905020404" pitchFamily="18" charset="0"/>
              </a:rPr>
              <a:t>Schema  Diagram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0BA72A-9670-9E16-1F32-1FA5E22D265F}"/>
              </a:ext>
            </a:extLst>
          </p:cNvPr>
          <p:cNvGrpSpPr/>
          <p:nvPr/>
        </p:nvGrpSpPr>
        <p:grpSpPr>
          <a:xfrm>
            <a:off x="2146789" y="7447937"/>
            <a:ext cx="8422888" cy="6947209"/>
            <a:chOff x="3769112" y="1"/>
            <a:chExt cx="8422888" cy="69472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9EB5B6-5177-DF74-E6CB-849890FF5B80}"/>
                </a:ext>
              </a:extLst>
            </p:cNvPr>
            <p:cNvSpPr/>
            <p:nvPr/>
          </p:nvSpPr>
          <p:spPr>
            <a:xfrm>
              <a:off x="3769112" y="1"/>
              <a:ext cx="8422888" cy="68580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82CC029-634B-91F8-3729-E4F1D47CC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8254" y="89210"/>
              <a:ext cx="7866159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263465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41CEE8-A6E5-A67A-6708-0D81F2181B98}"/>
              </a:ext>
            </a:extLst>
          </p:cNvPr>
          <p:cNvSpPr txBox="1"/>
          <p:nvPr/>
        </p:nvSpPr>
        <p:spPr>
          <a:xfrm>
            <a:off x="177586" y="2782669"/>
            <a:ext cx="6990469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 contourW="12700">
              <a:bevelT w="50800" h="38100" prst="riblet"/>
              <a:bevelB w="57150" h="38100" prst="hardEdge"/>
              <a:extrusionClr>
                <a:schemeClr val="tx1">
                  <a:lumMod val="85000"/>
                  <a:lumOff val="15000"/>
                </a:schemeClr>
              </a:extrusionClr>
              <a:contourClr>
                <a:schemeClr val="tx1">
                  <a:lumMod val="95000"/>
                  <a:lumOff val="5000"/>
                </a:schemeClr>
              </a:contourClr>
            </a:sp3d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effectLst>
                  <a:outerShdw blurRad="63500" dist="76200" dir="4200000" algn="bl" rotWithShape="0">
                    <a:prstClr val="black">
                      <a:alpha val="35000"/>
                    </a:prstClr>
                  </a:outerShdw>
                </a:effectLst>
                <a:latin typeface="Bernard MT Condensed" panose="02050806060905020404" pitchFamily="18" charset="0"/>
              </a:rPr>
              <a:t>Schema  Diagram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8A20115-8215-F54C-798F-4284301C44EC}"/>
              </a:ext>
            </a:extLst>
          </p:cNvPr>
          <p:cNvGrpSpPr/>
          <p:nvPr/>
        </p:nvGrpSpPr>
        <p:grpSpPr>
          <a:xfrm>
            <a:off x="3716594" y="1"/>
            <a:ext cx="8475406" cy="6930084"/>
            <a:chOff x="3769112" y="1"/>
            <a:chExt cx="8422888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646A6E-D9C4-CFE1-B4D3-388D91747357}"/>
                </a:ext>
              </a:extLst>
            </p:cNvPr>
            <p:cNvSpPr/>
            <p:nvPr/>
          </p:nvSpPr>
          <p:spPr>
            <a:xfrm>
              <a:off x="3769112" y="1"/>
              <a:ext cx="8422888" cy="685800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51A9F5-838F-F624-1B08-AF2E680AA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8254" y="89210"/>
              <a:ext cx="7608922" cy="66337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55818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7816B-C24A-F533-DD17-6820D06E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D7A7DA-D6A8-33D3-082B-7079E70D69E5}"/>
              </a:ext>
            </a:extLst>
          </p:cNvPr>
          <p:cNvSpPr/>
          <p:nvPr/>
        </p:nvSpPr>
        <p:spPr>
          <a:xfrm>
            <a:off x="0" y="1909941"/>
            <a:ext cx="2602509" cy="4312766"/>
          </a:xfrm>
          <a:prstGeom prst="roundRect">
            <a:avLst>
              <a:gd name="adj" fmla="val 8476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BACDA8-9BF8-8B1C-0012-5614168B70A0}"/>
              </a:ext>
            </a:extLst>
          </p:cNvPr>
          <p:cNvSpPr txBox="1"/>
          <p:nvPr/>
        </p:nvSpPr>
        <p:spPr>
          <a:xfrm>
            <a:off x="625012" y="159132"/>
            <a:ext cx="56959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Tables </a:t>
            </a:r>
            <a:r>
              <a: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485B98-1455-9515-D559-71DB456A0B8D}"/>
              </a:ext>
            </a:extLst>
          </p:cNvPr>
          <p:cNvSpPr txBox="1"/>
          <p:nvPr/>
        </p:nvSpPr>
        <p:spPr>
          <a:xfrm>
            <a:off x="755374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FD21B-6DD6-3C54-E00F-A2556FF5A722}"/>
              </a:ext>
            </a:extLst>
          </p:cNvPr>
          <p:cNvSpPr txBox="1"/>
          <p:nvPr/>
        </p:nvSpPr>
        <p:spPr>
          <a:xfrm>
            <a:off x="5421796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6B64E-8691-3141-71DB-80F2F4ABB91D}"/>
              </a:ext>
            </a:extLst>
          </p:cNvPr>
          <p:cNvSpPr txBox="1"/>
          <p:nvPr/>
        </p:nvSpPr>
        <p:spPr>
          <a:xfrm>
            <a:off x="7755007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B0AC3-DFC8-B17F-1CEA-042240CA045C}"/>
              </a:ext>
            </a:extLst>
          </p:cNvPr>
          <p:cNvSpPr txBox="1"/>
          <p:nvPr/>
        </p:nvSpPr>
        <p:spPr>
          <a:xfrm>
            <a:off x="10088217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1776D-C69F-1798-1762-314951DEDDA7}"/>
              </a:ext>
            </a:extLst>
          </p:cNvPr>
          <p:cNvSpPr txBox="1"/>
          <p:nvPr/>
        </p:nvSpPr>
        <p:spPr>
          <a:xfrm>
            <a:off x="347870" y="2703444"/>
            <a:ext cx="201764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Supplies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Tracks all items available for disaster response, ensuring proper categorization and inventory thresholds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D755D-E35A-5572-72C3-7D4EC5CB113C}"/>
              </a:ext>
            </a:extLst>
          </p:cNvPr>
          <p:cNvSpPr txBox="1"/>
          <p:nvPr/>
        </p:nvSpPr>
        <p:spPr>
          <a:xfrm>
            <a:off x="2648682" y="2703444"/>
            <a:ext cx="20176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Locations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Tracks physical locations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involved in storage, dispatch, and distribution of supplies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FFFF48-7565-0CA0-5874-5A2E4B1D2A3B}"/>
              </a:ext>
            </a:extLst>
          </p:cNvPr>
          <p:cNvSpPr txBox="1"/>
          <p:nvPr/>
        </p:nvSpPr>
        <p:spPr>
          <a:xfrm>
            <a:off x="4840984" y="2693502"/>
            <a:ext cx="20176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Suppliers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Ensures reliable sourcing of supplies by maintaining supplier contact and delivery timelines.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4185CE-4A50-E4CD-C7DB-B15B451DDA33}"/>
              </a:ext>
            </a:extLst>
          </p:cNvPr>
          <p:cNvSpPr txBox="1"/>
          <p:nvPr/>
        </p:nvSpPr>
        <p:spPr>
          <a:xfrm>
            <a:off x="7207944" y="2693503"/>
            <a:ext cx="20176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Stock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helps track where and how much of each supply is stored and identifies items approaching expiration.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402EB5-864F-8EA9-5A28-6290739FF588}"/>
              </a:ext>
            </a:extLst>
          </p:cNvPr>
          <p:cNvSpPr txBox="1"/>
          <p:nvPr/>
        </p:nvSpPr>
        <p:spPr>
          <a:xfrm>
            <a:off x="9614661" y="2693502"/>
            <a:ext cx="229097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Supply_Orders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Manages procurement of supplies and monitors order progress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E74E48-B863-BE10-2C23-CCE46D623A35}"/>
              </a:ext>
            </a:extLst>
          </p:cNvPr>
          <p:cNvSpPr txBox="1"/>
          <p:nvPr/>
        </p:nvSpPr>
        <p:spPr>
          <a:xfrm>
            <a:off x="3088585" y="1909941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903649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B3CAE7-43DC-AD37-3524-C71FC790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F514AF6-8FB2-B845-367E-ACC5C62AE54F}"/>
              </a:ext>
            </a:extLst>
          </p:cNvPr>
          <p:cNvSpPr/>
          <p:nvPr/>
        </p:nvSpPr>
        <p:spPr>
          <a:xfrm>
            <a:off x="2207210" y="1793556"/>
            <a:ext cx="2663687" cy="4312766"/>
          </a:xfrm>
          <a:prstGeom prst="roundRect">
            <a:avLst>
              <a:gd name="adj" fmla="val 8476"/>
            </a:avLst>
          </a:prstGeom>
          <a:solidFill>
            <a:srgbClr val="9751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037742-C2DC-7BF8-24A9-3DD85B43F9E2}"/>
              </a:ext>
            </a:extLst>
          </p:cNvPr>
          <p:cNvSpPr txBox="1"/>
          <p:nvPr/>
        </p:nvSpPr>
        <p:spPr>
          <a:xfrm>
            <a:off x="621099" y="198783"/>
            <a:ext cx="6072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Tables </a:t>
            </a:r>
            <a:r>
              <a: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A3071-A6E4-786A-7862-75C4998C44F5}"/>
              </a:ext>
            </a:extLst>
          </p:cNvPr>
          <p:cNvSpPr txBox="1"/>
          <p:nvPr/>
        </p:nvSpPr>
        <p:spPr>
          <a:xfrm>
            <a:off x="755374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42EFB-570B-1591-B6A4-594AA85E60D1}"/>
              </a:ext>
            </a:extLst>
          </p:cNvPr>
          <p:cNvSpPr txBox="1"/>
          <p:nvPr/>
        </p:nvSpPr>
        <p:spPr>
          <a:xfrm>
            <a:off x="5421796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1CAA6B-F801-2EE7-24F1-25AAD21149AB}"/>
              </a:ext>
            </a:extLst>
          </p:cNvPr>
          <p:cNvSpPr txBox="1"/>
          <p:nvPr/>
        </p:nvSpPr>
        <p:spPr>
          <a:xfrm>
            <a:off x="7755007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CABFF-CA07-13F3-2C7B-201C3B57C93C}"/>
              </a:ext>
            </a:extLst>
          </p:cNvPr>
          <p:cNvSpPr txBox="1"/>
          <p:nvPr/>
        </p:nvSpPr>
        <p:spPr>
          <a:xfrm>
            <a:off x="10088217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CC9F04-E808-FF98-DF97-1929FE77346D}"/>
              </a:ext>
            </a:extLst>
          </p:cNvPr>
          <p:cNvSpPr txBox="1"/>
          <p:nvPr/>
        </p:nvSpPr>
        <p:spPr>
          <a:xfrm>
            <a:off x="347870" y="2703444"/>
            <a:ext cx="201764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all items available for disaster response, ensuring proper categorization and inventory thresholds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E4FFB-5285-E518-BEAD-D5ED7A361D98}"/>
              </a:ext>
            </a:extLst>
          </p:cNvPr>
          <p:cNvSpPr txBox="1"/>
          <p:nvPr/>
        </p:nvSpPr>
        <p:spPr>
          <a:xfrm>
            <a:off x="2648682" y="2703444"/>
            <a:ext cx="20176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Locations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Tracks physical locations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involved in storage, dispatch, and distribution of supplies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9BBE50-52DC-E1ED-447A-69CC73FE1606}"/>
              </a:ext>
            </a:extLst>
          </p:cNvPr>
          <p:cNvSpPr txBox="1"/>
          <p:nvPr/>
        </p:nvSpPr>
        <p:spPr>
          <a:xfrm>
            <a:off x="4840984" y="2693502"/>
            <a:ext cx="20176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Suppliers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Ensures reliable sourcing of supplies by maintaining supplier contact and delivery timelines.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085E40-0962-BC0F-AA0C-ED538967C955}"/>
              </a:ext>
            </a:extLst>
          </p:cNvPr>
          <p:cNvSpPr txBox="1"/>
          <p:nvPr/>
        </p:nvSpPr>
        <p:spPr>
          <a:xfrm>
            <a:off x="7207944" y="2693503"/>
            <a:ext cx="20176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Stock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helps track where and how much of each supply is stored and identifies items approaching expiration.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57BD1D-1BDE-4A03-C3EF-635A033E9704}"/>
              </a:ext>
            </a:extLst>
          </p:cNvPr>
          <p:cNvSpPr txBox="1"/>
          <p:nvPr/>
        </p:nvSpPr>
        <p:spPr>
          <a:xfrm>
            <a:off x="9614661" y="2693502"/>
            <a:ext cx="229097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Supply_Orders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Manages procurement of supplies and monitors order progress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BBBAF3-E650-D2BF-BFA2-80D7DEC3B56F}"/>
              </a:ext>
            </a:extLst>
          </p:cNvPr>
          <p:cNvSpPr txBox="1"/>
          <p:nvPr/>
        </p:nvSpPr>
        <p:spPr>
          <a:xfrm>
            <a:off x="3088585" y="1909941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6392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B0A1D-4E67-0D2B-E3DC-408C6D66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5A5CE1-3E72-B545-BB61-C462329527F8}"/>
              </a:ext>
            </a:extLst>
          </p:cNvPr>
          <p:cNvSpPr/>
          <p:nvPr/>
        </p:nvSpPr>
        <p:spPr>
          <a:xfrm>
            <a:off x="4560300" y="1793556"/>
            <a:ext cx="2663687" cy="4312766"/>
          </a:xfrm>
          <a:prstGeom prst="roundRect">
            <a:avLst>
              <a:gd name="adj" fmla="val 8476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95F889-0146-F435-845D-855C6598D1EA}"/>
              </a:ext>
            </a:extLst>
          </p:cNvPr>
          <p:cNvSpPr txBox="1"/>
          <p:nvPr/>
        </p:nvSpPr>
        <p:spPr>
          <a:xfrm>
            <a:off x="621099" y="198783"/>
            <a:ext cx="6072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Tables </a:t>
            </a:r>
            <a:r>
              <a: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D4A92-098C-7B81-A564-10243A3DD66F}"/>
              </a:ext>
            </a:extLst>
          </p:cNvPr>
          <p:cNvSpPr txBox="1"/>
          <p:nvPr/>
        </p:nvSpPr>
        <p:spPr>
          <a:xfrm>
            <a:off x="755374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3947E-0D02-7431-78B3-666702D22D91}"/>
              </a:ext>
            </a:extLst>
          </p:cNvPr>
          <p:cNvSpPr txBox="1"/>
          <p:nvPr/>
        </p:nvSpPr>
        <p:spPr>
          <a:xfrm>
            <a:off x="5421796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18867-0660-7FB1-1FC5-BF4B74F3E7C3}"/>
              </a:ext>
            </a:extLst>
          </p:cNvPr>
          <p:cNvSpPr txBox="1"/>
          <p:nvPr/>
        </p:nvSpPr>
        <p:spPr>
          <a:xfrm>
            <a:off x="7755007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A5556-74D0-AE7A-73FD-7E3645313B0B}"/>
              </a:ext>
            </a:extLst>
          </p:cNvPr>
          <p:cNvSpPr txBox="1"/>
          <p:nvPr/>
        </p:nvSpPr>
        <p:spPr>
          <a:xfrm>
            <a:off x="10088217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F8394-4443-1E66-D60C-87BCFC7AF44E}"/>
              </a:ext>
            </a:extLst>
          </p:cNvPr>
          <p:cNvSpPr txBox="1"/>
          <p:nvPr/>
        </p:nvSpPr>
        <p:spPr>
          <a:xfrm>
            <a:off x="347870" y="2703444"/>
            <a:ext cx="201764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all items available for disaster response, ensuring proper categorization and inventory thresholds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6E7DA-1462-1978-961F-5ADB7147986B}"/>
              </a:ext>
            </a:extLst>
          </p:cNvPr>
          <p:cNvSpPr txBox="1"/>
          <p:nvPr/>
        </p:nvSpPr>
        <p:spPr>
          <a:xfrm>
            <a:off x="2648682" y="2703444"/>
            <a:ext cx="20176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Locations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physical locations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involved in storage, dispatch, and distribution of supplies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DE8DC9-9C97-3B2A-2147-6769599D3C10}"/>
              </a:ext>
            </a:extLst>
          </p:cNvPr>
          <p:cNvSpPr txBox="1"/>
          <p:nvPr/>
        </p:nvSpPr>
        <p:spPr>
          <a:xfrm>
            <a:off x="4840984" y="2693502"/>
            <a:ext cx="20176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Suppliers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Ensures reliable sourcing of supplies by maintaining supplier contact and delivery timelines.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64E639-9FF0-0DA5-8F71-082C6AB0B034}"/>
              </a:ext>
            </a:extLst>
          </p:cNvPr>
          <p:cNvSpPr txBox="1"/>
          <p:nvPr/>
        </p:nvSpPr>
        <p:spPr>
          <a:xfrm>
            <a:off x="7207944" y="2693503"/>
            <a:ext cx="20176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Stock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helps track where and how much of each supply is stored and identifies items approaching expiration.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350ADE-D802-698C-9C76-35204814975A}"/>
              </a:ext>
            </a:extLst>
          </p:cNvPr>
          <p:cNvSpPr txBox="1"/>
          <p:nvPr/>
        </p:nvSpPr>
        <p:spPr>
          <a:xfrm>
            <a:off x="9614661" y="2693502"/>
            <a:ext cx="229097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Supply_Orders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Manages procurement of supplies and monitors order progress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31F927-B329-9B3C-534D-E3FE1B69044C}"/>
              </a:ext>
            </a:extLst>
          </p:cNvPr>
          <p:cNvSpPr txBox="1"/>
          <p:nvPr/>
        </p:nvSpPr>
        <p:spPr>
          <a:xfrm>
            <a:off x="3088585" y="1909941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58725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5B69E-7069-155A-087E-828F1B6DC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36553F-5806-E217-9B46-41F2CFD91A0E}"/>
              </a:ext>
            </a:extLst>
          </p:cNvPr>
          <p:cNvSpPr/>
          <p:nvPr/>
        </p:nvSpPr>
        <p:spPr>
          <a:xfrm>
            <a:off x="6778487" y="1909941"/>
            <a:ext cx="2663687" cy="4312766"/>
          </a:xfrm>
          <a:prstGeom prst="roundRect">
            <a:avLst>
              <a:gd name="adj" fmla="val 8476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B500C2-3D58-3040-9924-7471A09F65EB}"/>
              </a:ext>
            </a:extLst>
          </p:cNvPr>
          <p:cNvSpPr txBox="1"/>
          <p:nvPr/>
        </p:nvSpPr>
        <p:spPr>
          <a:xfrm>
            <a:off x="621099" y="198783"/>
            <a:ext cx="6072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Tables </a:t>
            </a:r>
            <a:r>
              <a: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AC591-83F7-916A-E523-A7DF417236DA}"/>
              </a:ext>
            </a:extLst>
          </p:cNvPr>
          <p:cNvSpPr txBox="1"/>
          <p:nvPr/>
        </p:nvSpPr>
        <p:spPr>
          <a:xfrm>
            <a:off x="755374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5D8A0-AD99-4072-46CB-0CD8F9347005}"/>
              </a:ext>
            </a:extLst>
          </p:cNvPr>
          <p:cNvSpPr txBox="1"/>
          <p:nvPr/>
        </p:nvSpPr>
        <p:spPr>
          <a:xfrm>
            <a:off x="5421796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CC4E4-00ED-AC81-6F78-8FDB8492B690}"/>
              </a:ext>
            </a:extLst>
          </p:cNvPr>
          <p:cNvSpPr txBox="1"/>
          <p:nvPr/>
        </p:nvSpPr>
        <p:spPr>
          <a:xfrm>
            <a:off x="7755007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ABD644-B5DD-42BF-1403-EAD6F7BAAA2C}"/>
              </a:ext>
            </a:extLst>
          </p:cNvPr>
          <p:cNvSpPr txBox="1"/>
          <p:nvPr/>
        </p:nvSpPr>
        <p:spPr>
          <a:xfrm>
            <a:off x="10088217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7A02D-6260-4C96-239D-0A3CBB145F3C}"/>
              </a:ext>
            </a:extLst>
          </p:cNvPr>
          <p:cNvSpPr txBox="1"/>
          <p:nvPr/>
        </p:nvSpPr>
        <p:spPr>
          <a:xfrm>
            <a:off x="347870" y="2703444"/>
            <a:ext cx="201764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all items available for disaster response, ensuring proper categorization and inventory thresholds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F9DF6-AC1E-08DE-0B83-0DD72E174C34}"/>
              </a:ext>
            </a:extLst>
          </p:cNvPr>
          <p:cNvSpPr txBox="1"/>
          <p:nvPr/>
        </p:nvSpPr>
        <p:spPr>
          <a:xfrm>
            <a:off x="2648682" y="2703444"/>
            <a:ext cx="20176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Locations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physical locations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involved in storage, dispatch, and distribution of supplies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2A88EA-BA6D-E6CB-CB7F-8794798C1ABE}"/>
              </a:ext>
            </a:extLst>
          </p:cNvPr>
          <p:cNvSpPr txBox="1"/>
          <p:nvPr/>
        </p:nvSpPr>
        <p:spPr>
          <a:xfrm>
            <a:off x="4840984" y="2693502"/>
            <a:ext cx="20176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Suppliers 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Ensures reliable sourcing of supplies by maintaining supplier contact and delivery timelines.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54E52-ACF5-D7CC-893E-95509E308E0A}"/>
              </a:ext>
            </a:extLst>
          </p:cNvPr>
          <p:cNvSpPr txBox="1"/>
          <p:nvPr/>
        </p:nvSpPr>
        <p:spPr>
          <a:xfrm>
            <a:off x="7207944" y="2693503"/>
            <a:ext cx="20176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Stock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helps track where and how much of each supply is stored and identifies items approaching expiration.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6880FD-6797-9FB8-F029-1D36B0872F58}"/>
              </a:ext>
            </a:extLst>
          </p:cNvPr>
          <p:cNvSpPr txBox="1"/>
          <p:nvPr/>
        </p:nvSpPr>
        <p:spPr>
          <a:xfrm>
            <a:off x="9614661" y="2693502"/>
            <a:ext cx="229097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Supply_Orders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Manages procurement of supplies and monitors order progress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B559D0-2614-CF4B-C8B0-CBC890F67BB8}"/>
              </a:ext>
            </a:extLst>
          </p:cNvPr>
          <p:cNvSpPr txBox="1"/>
          <p:nvPr/>
        </p:nvSpPr>
        <p:spPr>
          <a:xfrm>
            <a:off x="3088585" y="1909941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78606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73E0EE6-7F82-96D6-6827-C8ACEC46A8D4}"/>
              </a:ext>
            </a:extLst>
          </p:cNvPr>
          <p:cNvSpPr/>
          <p:nvPr/>
        </p:nvSpPr>
        <p:spPr>
          <a:xfrm>
            <a:off x="9334098" y="1740165"/>
            <a:ext cx="2682311" cy="4312766"/>
          </a:xfrm>
          <a:prstGeom prst="roundRect">
            <a:avLst>
              <a:gd name="adj" fmla="val 8476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EB753E-F7FB-AD6C-BEFB-8E5B5625B7C4}"/>
              </a:ext>
            </a:extLst>
          </p:cNvPr>
          <p:cNvSpPr txBox="1"/>
          <p:nvPr/>
        </p:nvSpPr>
        <p:spPr>
          <a:xfrm>
            <a:off x="621099" y="198783"/>
            <a:ext cx="60728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Tables </a:t>
            </a:r>
            <a:r>
              <a: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66C4A-F983-7D7F-EF4E-85A7EF4F08DE}"/>
              </a:ext>
            </a:extLst>
          </p:cNvPr>
          <p:cNvSpPr txBox="1"/>
          <p:nvPr/>
        </p:nvSpPr>
        <p:spPr>
          <a:xfrm>
            <a:off x="755374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3B9A2-3F5E-F2E5-C028-0356923D9876}"/>
              </a:ext>
            </a:extLst>
          </p:cNvPr>
          <p:cNvSpPr txBox="1"/>
          <p:nvPr/>
        </p:nvSpPr>
        <p:spPr>
          <a:xfrm>
            <a:off x="5421796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628BF-C55A-FC19-02ED-997CD93FCBE3}"/>
              </a:ext>
            </a:extLst>
          </p:cNvPr>
          <p:cNvSpPr txBox="1"/>
          <p:nvPr/>
        </p:nvSpPr>
        <p:spPr>
          <a:xfrm>
            <a:off x="7755007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BB2E3-E96E-A481-6EA7-446F4903805B}"/>
              </a:ext>
            </a:extLst>
          </p:cNvPr>
          <p:cNvSpPr txBox="1"/>
          <p:nvPr/>
        </p:nvSpPr>
        <p:spPr>
          <a:xfrm>
            <a:off x="10088217" y="1909942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rnard MT Condensed" panose="02050806060905020404" pitchFamily="18" charset="0"/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D31CE-D2F9-67B2-0E9F-B5C5E24D30B0}"/>
              </a:ext>
            </a:extLst>
          </p:cNvPr>
          <p:cNvSpPr txBox="1"/>
          <p:nvPr/>
        </p:nvSpPr>
        <p:spPr>
          <a:xfrm>
            <a:off x="347870" y="2703444"/>
            <a:ext cx="201764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all items available for disaster response, ensuring proper categorization and inventory thresholds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B88515-C7E9-78FA-ABC0-B4341715BBA8}"/>
              </a:ext>
            </a:extLst>
          </p:cNvPr>
          <p:cNvSpPr txBox="1"/>
          <p:nvPr/>
        </p:nvSpPr>
        <p:spPr>
          <a:xfrm>
            <a:off x="2648682" y="2703444"/>
            <a:ext cx="20176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Locations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physical locations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involved in storage, dispatch, and distribution of supplies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3E08D-0B33-8B0B-372E-4CE70CF893FB}"/>
              </a:ext>
            </a:extLst>
          </p:cNvPr>
          <p:cNvSpPr txBox="1"/>
          <p:nvPr/>
        </p:nvSpPr>
        <p:spPr>
          <a:xfrm>
            <a:off x="4840984" y="2693502"/>
            <a:ext cx="20176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Suppliers 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Ensures reliable sourcing of supplies by maintaining supplier contact and delivery timelines.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2D07DA-BC44-0F34-D6E3-BF625C5AD0B3}"/>
              </a:ext>
            </a:extLst>
          </p:cNvPr>
          <p:cNvSpPr txBox="1"/>
          <p:nvPr/>
        </p:nvSpPr>
        <p:spPr>
          <a:xfrm>
            <a:off x="7207944" y="2693503"/>
            <a:ext cx="20176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Stock 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helps track where and how much of each supply is stored and identifies items approaching expiration.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10C5D6-9EC0-C435-CD96-F2E098E9F190}"/>
              </a:ext>
            </a:extLst>
          </p:cNvPr>
          <p:cNvSpPr txBox="1"/>
          <p:nvPr/>
        </p:nvSpPr>
        <p:spPr>
          <a:xfrm>
            <a:off x="9614661" y="2693502"/>
            <a:ext cx="229097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Supply_Orders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Manages procurement of supplies and monitors order progress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C13665-4444-C2D3-C59F-E6D5B9AD25C2}"/>
              </a:ext>
            </a:extLst>
          </p:cNvPr>
          <p:cNvSpPr txBox="1"/>
          <p:nvPr/>
        </p:nvSpPr>
        <p:spPr>
          <a:xfrm>
            <a:off x="3088585" y="1909941"/>
            <a:ext cx="60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5107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680FB-9120-C3E1-1087-24B566819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2BE95A-0A5F-8AD2-0102-3DBA0095F7DA}"/>
              </a:ext>
            </a:extLst>
          </p:cNvPr>
          <p:cNvSpPr/>
          <p:nvPr/>
        </p:nvSpPr>
        <p:spPr>
          <a:xfrm>
            <a:off x="174265" y="1878420"/>
            <a:ext cx="2057400" cy="4750904"/>
          </a:xfrm>
          <a:prstGeom prst="roundRect">
            <a:avLst>
              <a:gd name="adj" fmla="val 6522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5D4A0-E73A-6667-E20F-5EAC8C4064C4}"/>
              </a:ext>
            </a:extLst>
          </p:cNvPr>
          <p:cNvSpPr txBox="1"/>
          <p:nvPr/>
        </p:nvSpPr>
        <p:spPr>
          <a:xfrm>
            <a:off x="636103" y="347869"/>
            <a:ext cx="639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Tables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E36AF-AC37-B616-ED8E-DAAE964658DC}"/>
              </a:ext>
            </a:extLst>
          </p:cNvPr>
          <p:cNvSpPr txBox="1"/>
          <p:nvPr/>
        </p:nvSpPr>
        <p:spPr>
          <a:xfrm>
            <a:off x="949186" y="2213257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0B913-08A0-9322-4E87-C47C8EC78277}"/>
              </a:ext>
            </a:extLst>
          </p:cNvPr>
          <p:cNvSpPr txBox="1"/>
          <p:nvPr/>
        </p:nvSpPr>
        <p:spPr>
          <a:xfrm>
            <a:off x="291746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CCB7D-DB37-66D2-09AB-266599EE7120}"/>
              </a:ext>
            </a:extLst>
          </p:cNvPr>
          <p:cNvSpPr txBox="1"/>
          <p:nvPr/>
        </p:nvSpPr>
        <p:spPr>
          <a:xfrm>
            <a:off x="488574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1A98B-36A7-2764-4A09-49B77439DDC1}"/>
              </a:ext>
            </a:extLst>
          </p:cNvPr>
          <p:cNvSpPr txBox="1"/>
          <p:nvPr/>
        </p:nvSpPr>
        <p:spPr>
          <a:xfrm>
            <a:off x="685402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2D3A6B-F109-3F9E-5159-0D5855E5E289}"/>
              </a:ext>
            </a:extLst>
          </p:cNvPr>
          <p:cNvSpPr txBox="1"/>
          <p:nvPr/>
        </p:nvSpPr>
        <p:spPr>
          <a:xfrm>
            <a:off x="8822306" y="2219019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DB182-6248-9C95-403D-27E23AC7E32B}"/>
              </a:ext>
            </a:extLst>
          </p:cNvPr>
          <p:cNvSpPr txBox="1"/>
          <p:nvPr/>
        </p:nvSpPr>
        <p:spPr>
          <a:xfrm>
            <a:off x="10790587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E29DBB-CCD1-2EEA-87E6-ADE8DD4AF35B}"/>
              </a:ext>
            </a:extLst>
          </p:cNvPr>
          <p:cNvSpPr txBox="1"/>
          <p:nvPr/>
        </p:nvSpPr>
        <p:spPr>
          <a:xfrm>
            <a:off x="417443" y="2941979"/>
            <a:ext cx="15121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Emergency_Events</a:t>
            </a: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Offers guidance for allocating resources and responding to specific emergencies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F9B8B2-6A08-48D6-0974-B61A950299FB}"/>
              </a:ext>
            </a:extLst>
          </p:cNvPr>
          <p:cNvSpPr txBox="1"/>
          <p:nvPr/>
        </p:nvSpPr>
        <p:spPr>
          <a:xfrm>
            <a:off x="2325757" y="2941981"/>
            <a:ext cx="16300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Emergency_Distributions</a:t>
            </a: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and monitors supply dispatch during emergency responses.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8F26E5-6896-669E-B172-454FD81029BB}"/>
              </a:ext>
            </a:extLst>
          </p:cNvPr>
          <p:cNvSpPr txBox="1"/>
          <p:nvPr/>
        </p:nvSpPr>
        <p:spPr>
          <a:xfrm>
            <a:off x="4473704" y="2941981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Manages human resources for inventory and emergency operations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6775CC-A859-B046-4A43-0771E891476F}"/>
              </a:ext>
            </a:extLst>
          </p:cNvPr>
          <p:cNvSpPr txBox="1"/>
          <p:nvPr/>
        </p:nvSpPr>
        <p:spPr>
          <a:xfrm>
            <a:off x="6403278" y="2971799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Event_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Monitors supplies needed for emergencies and their quantities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21AB0-FF94-CB1B-5DDB-8DF54AD06FEF}"/>
              </a:ext>
            </a:extLst>
          </p:cNvPr>
          <p:cNvSpPr txBox="1"/>
          <p:nvPr/>
        </p:nvSpPr>
        <p:spPr>
          <a:xfrm>
            <a:off x="8236227" y="2976988"/>
            <a:ext cx="16550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Staff_Events</a:t>
            </a: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staff members to emergencies with specific roles.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7A8990-9A78-5687-A00F-2F721732C518}"/>
              </a:ext>
            </a:extLst>
          </p:cNvPr>
          <p:cNvSpPr txBox="1"/>
          <p:nvPr/>
        </p:nvSpPr>
        <p:spPr>
          <a:xfrm>
            <a:off x="10169661" y="2933510"/>
            <a:ext cx="16550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Supplier_Locations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supplier connections, delivery frequency, and agreements for specific locations.. </a:t>
            </a:r>
          </a:p>
        </p:txBody>
      </p:sp>
    </p:spTree>
    <p:extLst>
      <p:ext uri="{BB962C8B-B14F-4D97-AF65-F5344CB8AC3E}">
        <p14:creationId xmlns:p14="http://schemas.microsoft.com/office/powerpoint/2010/main" val="21689769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19EF7-591D-A303-6CF9-5B8207FC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FBA448-438E-D20A-5C84-DA01C6961B52}"/>
              </a:ext>
            </a:extLst>
          </p:cNvPr>
          <p:cNvSpPr/>
          <p:nvPr/>
        </p:nvSpPr>
        <p:spPr>
          <a:xfrm>
            <a:off x="2018307" y="1858542"/>
            <a:ext cx="2057400" cy="4750904"/>
          </a:xfrm>
          <a:prstGeom prst="roundRect">
            <a:avLst>
              <a:gd name="adj" fmla="val 6522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64717F-879D-7E0C-E455-30615396E845}"/>
              </a:ext>
            </a:extLst>
          </p:cNvPr>
          <p:cNvSpPr txBox="1"/>
          <p:nvPr/>
        </p:nvSpPr>
        <p:spPr>
          <a:xfrm>
            <a:off x="636103" y="347869"/>
            <a:ext cx="639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Tables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CD1FB3-75BF-F634-C4B2-865F127906EC}"/>
              </a:ext>
            </a:extLst>
          </p:cNvPr>
          <p:cNvSpPr txBox="1"/>
          <p:nvPr/>
        </p:nvSpPr>
        <p:spPr>
          <a:xfrm>
            <a:off x="949186" y="2213257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8E57D-A521-100E-7C1D-50DBE6A8B01D}"/>
              </a:ext>
            </a:extLst>
          </p:cNvPr>
          <p:cNvSpPr txBox="1"/>
          <p:nvPr/>
        </p:nvSpPr>
        <p:spPr>
          <a:xfrm>
            <a:off x="291746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02945-3853-6A8C-E0F5-1C8C045F30A3}"/>
              </a:ext>
            </a:extLst>
          </p:cNvPr>
          <p:cNvSpPr txBox="1"/>
          <p:nvPr/>
        </p:nvSpPr>
        <p:spPr>
          <a:xfrm>
            <a:off x="488574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AC4994-3312-A0E4-6111-A8EC937A12EC}"/>
              </a:ext>
            </a:extLst>
          </p:cNvPr>
          <p:cNvSpPr txBox="1"/>
          <p:nvPr/>
        </p:nvSpPr>
        <p:spPr>
          <a:xfrm>
            <a:off x="685402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E3D07F-695C-5E55-2D34-A78989E1E431}"/>
              </a:ext>
            </a:extLst>
          </p:cNvPr>
          <p:cNvSpPr txBox="1"/>
          <p:nvPr/>
        </p:nvSpPr>
        <p:spPr>
          <a:xfrm>
            <a:off x="8822306" y="2219019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A7AFCE-1AF8-44EE-78B0-CC3F891C4328}"/>
              </a:ext>
            </a:extLst>
          </p:cNvPr>
          <p:cNvSpPr txBox="1"/>
          <p:nvPr/>
        </p:nvSpPr>
        <p:spPr>
          <a:xfrm>
            <a:off x="10790587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EDFADE-AD7B-0858-C2D9-AA31361B6517}"/>
              </a:ext>
            </a:extLst>
          </p:cNvPr>
          <p:cNvSpPr txBox="1"/>
          <p:nvPr/>
        </p:nvSpPr>
        <p:spPr>
          <a:xfrm>
            <a:off x="417443" y="2941979"/>
            <a:ext cx="15121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Emergency_Events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Offers guidance for allocating resources and responding to specific emergencies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20CBBD-1C27-D9E0-E112-C714F434B79F}"/>
              </a:ext>
            </a:extLst>
          </p:cNvPr>
          <p:cNvSpPr txBox="1"/>
          <p:nvPr/>
        </p:nvSpPr>
        <p:spPr>
          <a:xfrm>
            <a:off x="2325757" y="2941981"/>
            <a:ext cx="16300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Emergency_Distributions</a:t>
            </a: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and monitors supply dispatch during emergency responses.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334FB-FCAE-26CC-A398-8753C5FBD4F2}"/>
              </a:ext>
            </a:extLst>
          </p:cNvPr>
          <p:cNvSpPr txBox="1"/>
          <p:nvPr/>
        </p:nvSpPr>
        <p:spPr>
          <a:xfrm>
            <a:off x="4473704" y="2941981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Manages human resources for inventory and emergency operations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E5837-BA41-9D9B-E9B1-AF67CA1C03A2}"/>
              </a:ext>
            </a:extLst>
          </p:cNvPr>
          <p:cNvSpPr txBox="1"/>
          <p:nvPr/>
        </p:nvSpPr>
        <p:spPr>
          <a:xfrm>
            <a:off x="6403278" y="2971799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Event_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Monitors supplies needed for emergencies and their quantities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BA014-C344-FDEE-A94A-87FD13FBC4BE}"/>
              </a:ext>
            </a:extLst>
          </p:cNvPr>
          <p:cNvSpPr txBox="1"/>
          <p:nvPr/>
        </p:nvSpPr>
        <p:spPr>
          <a:xfrm>
            <a:off x="8236227" y="2976988"/>
            <a:ext cx="16550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Staff_Events</a:t>
            </a: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staff members to emergencies with specific roles.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D3284-F367-5A8F-33EE-69CFA8F81629}"/>
              </a:ext>
            </a:extLst>
          </p:cNvPr>
          <p:cNvSpPr txBox="1"/>
          <p:nvPr/>
        </p:nvSpPr>
        <p:spPr>
          <a:xfrm>
            <a:off x="10169661" y="2933510"/>
            <a:ext cx="16550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Supplier_Locations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supplier connections, delivery frequency, and agreements for specific locations.. </a:t>
            </a:r>
          </a:p>
        </p:txBody>
      </p:sp>
    </p:spTree>
    <p:extLst>
      <p:ext uri="{BB962C8B-B14F-4D97-AF65-F5344CB8AC3E}">
        <p14:creationId xmlns:p14="http://schemas.microsoft.com/office/powerpoint/2010/main" val="835814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302947-9BB0-04AC-28CA-73912AAC6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13C125-8BAA-1CA0-8E4E-3F101925F674}"/>
              </a:ext>
            </a:extLst>
          </p:cNvPr>
          <p:cNvSpPr/>
          <p:nvPr/>
        </p:nvSpPr>
        <p:spPr>
          <a:xfrm>
            <a:off x="4031147" y="1838664"/>
            <a:ext cx="2057400" cy="4750904"/>
          </a:xfrm>
          <a:prstGeom prst="roundRect">
            <a:avLst>
              <a:gd name="adj" fmla="val 6522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C50DC5-F7A4-091B-C83C-7A0AFA2F0533}"/>
              </a:ext>
            </a:extLst>
          </p:cNvPr>
          <p:cNvSpPr txBox="1"/>
          <p:nvPr/>
        </p:nvSpPr>
        <p:spPr>
          <a:xfrm>
            <a:off x="636103" y="347869"/>
            <a:ext cx="639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Tables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FC810-9E20-432E-EACC-8A1528AAC76A}"/>
              </a:ext>
            </a:extLst>
          </p:cNvPr>
          <p:cNvSpPr txBox="1"/>
          <p:nvPr/>
        </p:nvSpPr>
        <p:spPr>
          <a:xfrm>
            <a:off x="949186" y="2213257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7F4DCD-A463-F4F3-CD57-94C6307BD7C0}"/>
              </a:ext>
            </a:extLst>
          </p:cNvPr>
          <p:cNvSpPr txBox="1"/>
          <p:nvPr/>
        </p:nvSpPr>
        <p:spPr>
          <a:xfrm>
            <a:off x="291746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592FE-E500-88BC-A6F5-AB3E6D4E1D8C}"/>
              </a:ext>
            </a:extLst>
          </p:cNvPr>
          <p:cNvSpPr txBox="1"/>
          <p:nvPr/>
        </p:nvSpPr>
        <p:spPr>
          <a:xfrm>
            <a:off x="488574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9FDA7-2327-2A76-3DA8-18C8C4C9D1A9}"/>
              </a:ext>
            </a:extLst>
          </p:cNvPr>
          <p:cNvSpPr txBox="1"/>
          <p:nvPr/>
        </p:nvSpPr>
        <p:spPr>
          <a:xfrm>
            <a:off x="685402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1E5F7-1DA5-136F-0CD6-50B0531AE528}"/>
              </a:ext>
            </a:extLst>
          </p:cNvPr>
          <p:cNvSpPr txBox="1"/>
          <p:nvPr/>
        </p:nvSpPr>
        <p:spPr>
          <a:xfrm>
            <a:off x="8822306" y="2219019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16650C-2DC8-004C-6DD4-D141FC82CDC2}"/>
              </a:ext>
            </a:extLst>
          </p:cNvPr>
          <p:cNvSpPr txBox="1"/>
          <p:nvPr/>
        </p:nvSpPr>
        <p:spPr>
          <a:xfrm>
            <a:off x="10790587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1E4EF0-7764-E0CB-F4D3-DEEC54561308}"/>
              </a:ext>
            </a:extLst>
          </p:cNvPr>
          <p:cNvSpPr txBox="1"/>
          <p:nvPr/>
        </p:nvSpPr>
        <p:spPr>
          <a:xfrm>
            <a:off x="417443" y="2941979"/>
            <a:ext cx="15121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Emergency_Events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Offers guidance for allocating resources and responding to specific emergencies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A6FF5-8005-5001-53F9-CF345B0CB108}"/>
              </a:ext>
            </a:extLst>
          </p:cNvPr>
          <p:cNvSpPr txBox="1"/>
          <p:nvPr/>
        </p:nvSpPr>
        <p:spPr>
          <a:xfrm>
            <a:off x="2325757" y="2941981"/>
            <a:ext cx="16300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Emergency_Distributions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and monitors supply dispatch during emergency responses.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9775EE-B1E2-EDBD-8E61-A74CB4A955E7}"/>
              </a:ext>
            </a:extLst>
          </p:cNvPr>
          <p:cNvSpPr txBox="1"/>
          <p:nvPr/>
        </p:nvSpPr>
        <p:spPr>
          <a:xfrm>
            <a:off x="4473704" y="2941981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Manages human resources for inventory and emergency operations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B4C8E1-49D5-E23F-4C81-08CA8B9BB414}"/>
              </a:ext>
            </a:extLst>
          </p:cNvPr>
          <p:cNvSpPr txBox="1"/>
          <p:nvPr/>
        </p:nvSpPr>
        <p:spPr>
          <a:xfrm>
            <a:off x="6403278" y="2971799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Event_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Monitors supplies needed for emergencies and their quantities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9C9891-0AB3-9455-81DA-F41EC14224E4}"/>
              </a:ext>
            </a:extLst>
          </p:cNvPr>
          <p:cNvSpPr txBox="1"/>
          <p:nvPr/>
        </p:nvSpPr>
        <p:spPr>
          <a:xfrm>
            <a:off x="8236227" y="2976988"/>
            <a:ext cx="16550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Staff_Events</a:t>
            </a: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staff members to emergencies with specific roles.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E00B8-9F2D-3EF2-EAEF-5EB0AA5CA9BE}"/>
              </a:ext>
            </a:extLst>
          </p:cNvPr>
          <p:cNvSpPr txBox="1"/>
          <p:nvPr/>
        </p:nvSpPr>
        <p:spPr>
          <a:xfrm>
            <a:off x="10169661" y="2933510"/>
            <a:ext cx="16550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Supplier_Locations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supplier connections, delivery frequency, and agreements for specific locations.. </a:t>
            </a:r>
          </a:p>
        </p:txBody>
      </p:sp>
    </p:spTree>
    <p:extLst>
      <p:ext uri="{BB962C8B-B14F-4D97-AF65-F5344CB8AC3E}">
        <p14:creationId xmlns:p14="http://schemas.microsoft.com/office/powerpoint/2010/main" val="2205308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5E56F-3E39-F1AB-4D89-5938D0DEA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EC9B8C-CA35-B699-D019-DF0B711E06BD}"/>
              </a:ext>
            </a:extLst>
          </p:cNvPr>
          <p:cNvSpPr/>
          <p:nvPr/>
        </p:nvSpPr>
        <p:spPr>
          <a:xfrm>
            <a:off x="5900401" y="1838664"/>
            <a:ext cx="2057400" cy="4750904"/>
          </a:xfrm>
          <a:prstGeom prst="roundRect">
            <a:avLst>
              <a:gd name="adj" fmla="val 6522"/>
            </a:avLst>
          </a:prstGeom>
          <a:solidFill>
            <a:srgbClr val="8EB1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EBBD09-6A90-86AF-F8E0-D1514129528A}"/>
              </a:ext>
            </a:extLst>
          </p:cNvPr>
          <p:cNvSpPr txBox="1"/>
          <p:nvPr/>
        </p:nvSpPr>
        <p:spPr>
          <a:xfrm>
            <a:off x="636103" y="347869"/>
            <a:ext cx="639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Tables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46BFE0-0E92-8652-39EA-300A4CEDC29B}"/>
              </a:ext>
            </a:extLst>
          </p:cNvPr>
          <p:cNvSpPr txBox="1"/>
          <p:nvPr/>
        </p:nvSpPr>
        <p:spPr>
          <a:xfrm>
            <a:off x="949186" y="2213257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C22D5-3F82-AB5A-4D53-A55054FD05A3}"/>
              </a:ext>
            </a:extLst>
          </p:cNvPr>
          <p:cNvSpPr txBox="1"/>
          <p:nvPr/>
        </p:nvSpPr>
        <p:spPr>
          <a:xfrm>
            <a:off x="291746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3DABD-8769-450C-B172-413977FC4296}"/>
              </a:ext>
            </a:extLst>
          </p:cNvPr>
          <p:cNvSpPr txBox="1"/>
          <p:nvPr/>
        </p:nvSpPr>
        <p:spPr>
          <a:xfrm>
            <a:off x="488574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5D285-A779-77E8-397C-3B98BDE2AFAA}"/>
              </a:ext>
            </a:extLst>
          </p:cNvPr>
          <p:cNvSpPr txBox="1"/>
          <p:nvPr/>
        </p:nvSpPr>
        <p:spPr>
          <a:xfrm>
            <a:off x="685402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0A535-880B-6A8F-F15B-11A575FC6909}"/>
              </a:ext>
            </a:extLst>
          </p:cNvPr>
          <p:cNvSpPr txBox="1"/>
          <p:nvPr/>
        </p:nvSpPr>
        <p:spPr>
          <a:xfrm>
            <a:off x="8822306" y="2219019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0CA41F-87F1-375A-FCED-33A5ABEA8A98}"/>
              </a:ext>
            </a:extLst>
          </p:cNvPr>
          <p:cNvSpPr txBox="1"/>
          <p:nvPr/>
        </p:nvSpPr>
        <p:spPr>
          <a:xfrm>
            <a:off x="10790587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268CE-07F3-5C28-F5FD-61F0313D36C2}"/>
              </a:ext>
            </a:extLst>
          </p:cNvPr>
          <p:cNvSpPr txBox="1"/>
          <p:nvPr/>
        </p:nvSpPr>
        <p:spPr>
          <a:xfrm>
            <a:off x="417443" y="2941979"/>
            <a:ext cx="15121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Emergency_Events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Offers guidance for allocating resources and responding to specific emergencies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4F4D6-2A65-18AB-1422-B248C4D64A28}"/>
              </a:ext>
            </a:extLst>
          </p:cNvPr>
          <p:cNvSpPr txBox="1"/>
          <p:nvPr/>
        </p:nvSpPr>
        <p:spPr>
          <a:xfrm>
            <a:off x="2325757" y="2941981"/>
            <a:ext cx="16300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Emergency_Distributions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and monitors supply dispatch during emergency responses.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058B66-83F3-FE60-BD69-D9360E8E6291}"/>
              </a:ext>
            </a:extLst>
          </p:cNvPr>
          <p:cNvSpPr txBox="1"/>
          <p:nvPr/>
        </p:nvSpPr>
        <p:spPr>
          <a:xfrm>
            <a:off x="4473704" y="2941981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  <a:p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Manages human resources for inventory and emergency operations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C64988-6B0E-5DFA-B481-4B6B7D58B26E}"/>
              </a:ext>
            </a:extLst>
          </p:cNvPr>
          <p:cNvSpPr txBox="1"/>
          <p:nvPr/>
        </p:nvSpPr>
        <p:spPr>
          <a:xfrm>
            <a:off x="6403278" y="2971799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Event_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Monitors supplies needed for emergencies and their quantities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8C6D39-1D47-F94A-0F37-F4CEADEC0196}"/>
              </a:ext>
            </a:extLst>
          </p:cNvPr>
          <p:cNvSpPr txBox="1"/>
          <p:nvPr/>
        </p:nvSpPr>
        <p:spPr>
          <a:xfrm>
            <a:off x="8236227" y="2976988"/>
            <a:ext cx="16550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Staff_Events</a:t>
            </a: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staff members to emergencies with specific roles.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DC5D1C-47BD-AB14-4BAB-B388E1500ABA}"/>
              </a:ext>
            </a:extLst>
          </p:cNvPr>
          <p:cNvSpPr txBox="1"/>
          <p:nvPr/>
        </p:nvSpPr>
        <p:spPr>
          <a:xfrm>
            <a:off x="10169661" y="2933510"/>
            <a:ext cx="16550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Supplier_Locations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supplier connections, delivery frequency, and agreements for specific locations.. </a:t>
            </a:r>
          </a:p>
        </p:txBody>
      </p:sp>
    </p:spTree>
    <p:extLst>
      <p:ext uri="{BB962C8B-B14F-4D97-AF65-F5344CB8AC3E}">
        <p14:creationId xmlns:p14="http://schemas.microsoft.com/office/powerpoint/2010/main" val="2973652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18298-D13C-1334-265E-D08A5A421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EB153FF-3331-16A8-FCEC-0A814E00A462}"/>
              </a:ext>
            </a:extLst>
          </p:cNvPr>
          <p:cNvSpPr/>
          <p:nvPr/>
        </p:nvSpPr>
        <p:spPr>
          <a:xfrm>
            <a:off x="7967708" y="1818786"/>
            <a:ext cx="2057400" cy="4750904"/>
          </a:xfrm>
          <a:prstGeom prst="roundRect">
            <a:avLst>
              <a:gd name="adj" fmla="val 6522"/>
            </a:avLst>
          </a:prstGeom>
          <a:solidFill>
            <a:srgbClr val="EA5C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76610A-CAB8-518E-A3AF-218C04E645C8}"/>
              </a:ext>
            </a:extLst>
          </p:cNvPr>
          <p:cNvSpPr txBox="1"/>
          <p:nvPr/>
        </p:nvSpPr>
        <p:spPr>
          <a:xfrm>
            <a:off x="636103" y="347869"/>
            <a:ext cx="639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Tables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B6A6A-61D7-2E42-FC9F-6E6F2CF9953D}"/>
              </a:ext>
            </a:extLst>
          </p:cNvPr>
          <p:cNvSpPr txBox="1"/>
          <p:nvPr/>
        </p:nvSpPr>
        <p:spPr>
          <a:xfrm>
            <a:off x="949186" y="2213257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F5E24-2F00-BA7C-0ED0-BCA4D8FCD98A}"/>
              </a:ext>
            </a:extLst>
          </p:cNvPr>
          <p:cNvSpPr txBox="1"/>
          <p:nvPr/>
        </p:nvSpPr>
        <p:spPr>
          <a:xfrm>
            <a:off x="291746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6DF34-5EF4-A4C9-EAB4-ED409C215A62}"/>
              </a:ext>
            </a:extLst>
          </p:cNvPr>
          <p:cNvSpPr txBox="1"/>
          <p:nvPr/>
        </p:nvSpPr>
        <p:spPr>
          <a:xfrm>
            <a:off x="488574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0B814-987E-67B0-F69F-41288974B89D}"/>
              </a:ext>
            </a:extLst>
          </p:cNvPr>
          <p:cNvSpPr txBox="1"/>
          <p:nvPr/>
        </p:nvSpPr>
        <p:spPr>
          <a:xfrm>
            <a:off x="685402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32A71E-A674-2FCE-73A6-1F04699A72EC}"/>
              </a:ext>
            </a:extLst>
          </p:cNvPr>
          <p:cNvSpPr txBox="1"/>
          <p:nvPr/>
        </p:nvSpPr>
        <p:spPr>
          <a:xfrm>
            <a:off x="8822306" y="2219019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B44D2-DBC7-BE4E-603E-2C726C264B72}"/>
              </a:ext>
            </a:extLst>
          </p:cNvPr>
          <p:cNvSpPr txBox="1"/>
          <p:nvPr/>
        </p:nvSpPr>
        <p:spPr>
          <a:xfrm>
            <a:off x="10790587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8BB15C-8D67-F523-863F-22A044A5CDB8}"/>
              </a:ext>
            </a:extLst>
          </p:cNvPr>
          <p:cNvSpPr txBox="1"/>
          <p:nvPr/>
        </p:nvSpPr>
        <p:spPr>
          <a:xfrm>
            <a:off x="417443" y="2941979"/>
            <a:ext cx="15121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Emergency_Events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Offers guidance for allocating resources and responding to specific emergencies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3A277-E111-325D-8F6F-BA3960193653}"/>
              </a:ext>
            </a:extLst>
          </p:cNvPr>
          <p:cNvSpPr txBox="1"/>
          <p:nvPr/>
        </p:nvSpPr>
        <p:spPr>
          <a:xfrm>
            <a:off x="2325757" y="2941981"/>
            <a:ext cx="16300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Emergency_Distributions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and monitors supply dispatch during emergency responses.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2A48FD-F379-2CF1-C974-A6A277BED82A}"/>
              </a:ext>
            </a:extLst>
          </p:cNvPr>
          <p:cNvSpPr txBox="1"/>
          <p:nvPr/>
        </p:nvSpPr>
        <p:spPr>
          <a:xfrm>
            <a:off x="4473704" y="2941981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  <a:p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Manages human resources for inventory and emergency operations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28F472-2FB3-AAF5-0954-CD6674421209}"/>
              </a:ext>
            </a:extLst>
          </p:cNvPr>
          <p:cNvSpPr txBox="1"/>
          <p:nvPr/>
        </p:nvSpPr>
        <p:spPr>
          <a:xfrm>
            <a:off x="6403278" y="2971799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Event_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Monitors supplies needed for emergencies and their quantities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682669-4671-CB9D-8989-19D2FF165967}"/>
              </a:ext>
            </a:extLst>
          </p:cNvPr>
          <p:cNvSpPr txBox="1"/>
          <p:nvPr/>
        </p:nvSpPr>
        <p:spPr>
          <a:xfrm>
            <a:off x="8236227" y="2976988"/>
            <a:ext cx="16550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Staff_Events</a:t>
            </a:r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staff members to emergencies with specific roles.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5824A4-B6DE-166E-E3EA-107310C70933}"/>
              </a:ext>
            </a:extLst>
          </p:cNvPr>
          <p:cNvSpPr txBox="1"/>
          <p:nvPr/>
        </p:nvSpPr>
        <p:spPr>
          <a:xfrm>
            <a:off x="10169661" y="2933510"/>
            <a:ext cx="16550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Supplier_Locations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supplier connections, delivery frequency, and agreements for specific locations.. </a:t>
            </a:r>
          </a:p>
        </p:txBody>
      </p:sp>
    </p:spTree>
    <p:extLst>
      <p:ext uri="{BB962C8B-B14F-4D97-AF65-F5344CB8AC3E}">
        <p14:creationId xmlns:p14="http://schemas.microsoft.com/office/powerpoint/2010/main" val="3290934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D54BC6-8491-9535-8A5B-C5D3513C68F3}"/>
              </a:ext>
            </a:extLst>
          </p:cNvPr>
          <p:cNvSpPr/>
          <p:nvPr/>
        </p:nvSpPr>
        <p:spPr>
          <a:xfrm>
            <a:off x="9891235" y="1878420"/>
            <a:ext cx="2057400" cy="4750904"/>
          </a:xfrm>
          <a:prstGeom prst="roundRect">
            <a:avLst>
              <a:gd name="adj" fmla="val 6522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70351E-016B-C7DF-2668-88B1F3EE955C}"/>
              </a:ext>
            </a:extLst>
          </p:cNvPr>
          <p:cNvSpPr txBox="1"/>
          <p:nvPr/>
        </p:nvSpPr>
        <p:spPr>
          <a:xfrm>
            <a:off x="636103" y="347869"/>
            <a:ext cx="639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Tables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4EDD36-9804-BE57-ED10-8A859524A9EB}"/>
              </a:ext>
            </a:extLst>
          </p:cNvPr>
          <p:cNvSpPr txBox="1"/>
          <p:nvPr/>
        </p:nvSpPr>
        <p:spPr>
          <a:xfrm>
            <a:off x="949186" y="2213257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E2D4D-FF65-C43D-E21B-EFA840669B8F}"/>
              </a:ext>
            </a:extLst>
          </p:cNvPr>
          <p:cNvSpPr txBox="1"/>
          <p:nvPr/>
        </p:nvSpPr>
        <p:spPr>
          <a:xfrm>
            <a:off x="291746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A97ED-938D-43A5-C4A0-EA579AF35166}"/>
              </a:ext>
            </a:extLst>
          </p:cNvPr>
          <p:cNvSpPr txBox="1"/>
          <p:nvPr/>
        </p:nvSpPr>
        <p:spPr>
          <a:xfrm>
            <a:off x="488574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B682F4-C03F-5A13-93C9-166E36B1FCF4}"/>
              </a:ext>
            </a:extLst>
          </p:cNvPr>
          <p:cNvSpPr txBox="1"/>
          <p:nvPr/>
        </p:nvSpPr>
        <p:spPr>
          <a:xfrm>
            <a:off x="6854026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53B4F-015D-C036-869B-802C1641BAF6}"/>
              </a:ext>
            </a:extLst>
          </p:cNvPr>
          <p:cNvSpPr txBox="1"/>
          <p:nvPr/>
        </p:nvSpPr>
        <p:spPr>
          <a:xfrm>
            <a:off x="8822306" y="2219019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nard MT Condensed" panose="02050806060905020404" pitchFamily="18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31193-7FDF-DEB0-7E1A-62D24C0AD136}"/>
              </a:ext>
            </a:extLst>
          </p:cNvPr>
          <p:cNvSpPr txBox="1"/>
          <p:nvPr/>
        </p:nvSpPr>
        <p:spPr>
          <a:xfrm>
            <a:off x="10790587" y="2205910"/>
            <a:ext cx="43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ernard MT Condensed" panose="02050806060905020404" pitchFamily="18" charset="0"/>
              </a:rPr>
              <a:t>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507CC-3E7D-730D-F1E0-C7F6782C2527}"/>
              </a:ext>
            </a:extLst>
          </p:cNvPr>
          <p:cNvSpPr txBox="1"/>
          <p:nvPr/>
        </p:nvSpPr>
        <p:spPr>
          <a:xfrm>
            <a:off x="417443" y="2941979"/>
            <a:ext cx="15121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Emergency_Events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Offers guidance for allocating resources and responding to specific emergencies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F76654-AA68-D450-1706-23DDADE94DB1}"/>
              </a:ext>
            </a:extLst>
          </p:cNvPr>
          <p:cNvSpPr txBox="1"/>
          <p:nvPr/>
        </p:nvSpPr>
        <p:spPr>
          <a:xfrm>
            <a:off x="2325757" y="2941981"/>
            <a:ext cx="16300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Emergency_Distributions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and monitors supply dispatch during emergency responses.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097574-F370-6085-4468-66B2175ED7F8}"/>
              </a:ext>
            </a:extLst>
          </p:cNvPr>
          <p:cNvSpPr txBox="1"/>
          <p:nvPr/>
        </p:nvSpPr>
        <p:spPr>
          <a:xfrm>
            <a:off x="4473704" y="2941981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  <a:p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Manages human resources for inventory and emergency operations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7D797-E0F5-2DC8-0BE3-F43157049EA3}"/>
              </a:ext>
            </a:extLst>
          </p:cNvPr>
          <p:cNvSpPr txBox="1"/>
          <p:nvPr/>
        </p:nvSpPr>
        <p:spPr>
          <a:xfrm>
            <a:off x="6403278" y="2971799"/>
            <a:ext cx="131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Event_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Supplies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Monitors supplies needed for emergencies and their quantities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7FC4B9-F4E6-C3B7-CA36-B973CC74C9E0}"/>
              </a:ext>
            </a:extLst>
          </p:cNvPr>
          <p:cNvSpPr txBox="1"/>
          <p:nvPr/>
        </p:nvSpPr>
        <p:spPr>
          <a:xfrm>
            <a:off x="8236227" y="2976988"/>
            <a:ext cx="16550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Staff_Events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staff members to emergencies with specific roles.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DF74C3-DD5E-3586-5A8A-2433040899F8}"/>
              </a:ext>
            </a:extLst>
          </p:cNvPr>
          <p:cNvSpPr txBox="1"/>
          <p:nvPr/>
        </p:nvSpPr>
        <p:spPr>
          <a:xfrm>
            <a:off x="10169661" y="2933510"/>
            <a:ext cx="16550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Supplier_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Locations </a:t>
            </a: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supplier connections, delivery frequency, and agreements for specific locations.. </a:t>
            </a:r>
          </a:p>
        </p:txBody>
      </p:sp>
    </p:spTree>
    <p:extLst>
      <p:ext uri="{BB962C8B-B14F-4D97-AF65-F5344CB8AC3E}">
        <p14:creationId xmlns:p14="http://schemas.microsoft.com/office/powerpoint/2010/main" val="3139149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77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BD5FD-9BDC-83B7-52CD-01DE4FD6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F300BD-9714-859B-A380-9380153F72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" r="622"/>
          <a:stretch/>
        </p:blipFill>
        <p:spPr>
          <a:xfrm>
            <a:off x="-9634654" y="-10510"/>
            <a:ext cx="88392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0253B6-44FA-BE69-8ED9-BC8A84CFA98E}"/>
              </a:ext>
            </a:extLst>
          </p:cNvPr>
          <p:cNvSpPr txBox="1"/>
          <p:nvPr/>
        </p:nvSpPr>
        <p:spPr>
          <a:xfrm>
            <a:off x="3362221" y="2392771"/>
            <a:ext cx="5467558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 contourW="12700">
              <a:bevelT w="50800" h="38100" prst="riblet"/>
              <a:bevelB w="57150" h="38100" prst="hardEdge"/>
              <a:extrusionClr>
                <a:schemeClr val="tx1">
                  <a:lumMod val="85000"/>
                  <a:lumOff val="15000"/>
                </a:schemeClr>
              </a:extrusionClr>
              <a:contourClr>
                <a:schemeClr val="tx1">
                  <a:lumMod val="95000"/>
                  <a:lumOff val="5000"/>
                </a:schemeClr>
              </a:contourClr>
            </a:sp3d>
          </a:bodyPr>
          <a:lstStyle/>
          <a:p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63500" dist="76200" dir="4200000" algn="bl" rotWithShape="0">
                    <a:prstClr val="black">
                      <a:alpha val="35000"/>
                    </a:prstClr>
                  </a:outerShdw>
                </a:effectLst>
                <a:latin typeface="Bernard MT Condensed" panose="02050806060905020404" pitchFamily="18" charset="0"/>
              </a:rPr>
              <a:t>Entity Diagram</a:t>
            </a:r>
          </a:p>
        </p:txBody>
      </p:sp>
    </p:spTree>
    <p:extLst>
      <p:ext uri="{BB962C8B-B14F-4D97-AF65-F5344CB8AC3E}">
        <p14:creationId xmlns:p14="http://schemas.microsoft.com/office/powerpoint/2010/main" val="215724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4000">
              <a:schemeClr val="tx1">
                <a:lumMod val="95000"/>
                <a:lumOff val="5000"/>
              </a:schemeClr>
            </a:gs>
            <a:gs pos="77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6DDB1F-2D5E-A4D4-C779-0886080829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" r="622"/>
          <a:stretch/>
        </p:blipFill>
        <p:spPr>
          <a:xfrm>
            <a:off x="0" y="-10510"/>
            <a:ext cx="88392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CAC1FB-DF63-A44C-2056-08C9145CF711}"/>
              </a:ext>
            </a:extLst>
          </p:cNvPr>
          <p:cNvSpPr txBox="1"/>
          <p:nvPr/>
        </p:nvSpPr>
        <p:spPr>
          <a:xfrm>
            <a:off x="9312261" y="2772159"/>
            <a:ext cx="575947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 contourW="12700">
              <a:bevelT w="50800" h="38100" prst="riblet"/>
              <a:bevelB w="57150" h="38100" prst="hardEdge"/>
              <a:extrusionClr>
                <a:schemeClr val="tx1">
                  <a:lumMod val="85000"/>
                  <a:lumOff val="15000"/>
                </a:schemeClr>
              </a:extrusionClr>
              <a:contourClr>
                <a:schemeClr val="tx1">
                  <a:lumMod val="95000"/>
                  <a:lumOff val="5000"/>
                </a:schemeClr>
              </a:contourClr>
            </a:sp3d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effectLst>
                  <a:outerShdw blurRad="63500" dist="76200" dir="4200000" algn="bl" rotWithShape="0">
                    <a:prstClr val="black">
                      <a:alpha val="35000"/>
                    </a:prstClr>
                  </a:outerShdw>
                </a:effectLst>
                <a:latin typeface="Bernard MT Condensed" panose="02050806060905020404" pitchFamily="18" charset="0"/>
              </a:rPr>
              <a:t>Entity Diagram</a:t>
            </a:r>
          </a:p>
        </p:txBody>
      </p:sp>
    </p:spTree>
    <p:extLst>
      <p:ext uri="{BB962C8B-B14F-4D97-AF65-F5344CB8AC3E}">
        <p14:creationId xmlns:p14="http://schemas.microsoft.com/office/powerpoint/2010/main" val="1590361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32B4A"/>
            </a:gs>
            <a:gs pos="77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6A3DA1-2CB0-9718-DFE7-B64F4D3EBA72}"/>
              </a:ext>
            </a:extLst>
          </p:cNvPr>
          <p:cNvSpPr/>
          <p:nvPr/>
        </p:nvSpPr>
        <p:spPr>
          <a:xfrm>
            <a:off x="3802567" y="1479296"/>
            <a:ext cx="3111189" cy="5218771"/>
          </a:xfrm>
          <a:prstGeom prst="roundRect">
            <a:avLst>
              <a:gd name="adj" fmla="val 15020"/>
            </a:avLst>
          </a:prstGeom>
          <a:gradFill>
            <a:gsLst>
              <a:gs pos="0">
                <a:srgbClr val="E32B4A"/>
              </a:gs>
              <a:gs pos="77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D98C20-E385-D151-F0CD-A1CB709FC08C}"/>
              </a:ext>
            </a:extLst>
          </p:cNvPr>
          <p:cNvSpPr/>
          <p:nvPr/>
        </p:nvSpPr>
        <p:spPr>
          <a:xfrm>
            <a:off x="133491" y="1479297"/>
            <a:ext cx="3385849" cy="5218771"/>
          </a:xfrm>
          <a:prstGeom prst="roundRect">
            <a:avLst>
              <a:gd name="adj" fmla="val 15020"/>
            </a:avLst>
          </a:prstGeom>
          <a:gradFill>
            <a:gsLst>
              <a:gs pos="0">
                <a:srgbClr val="E32B4A"/>
              </a:gs>
              <a:gs pos="77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BD08A-8D3E-19DC-746B-4C507B5B7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203"/>
          <a:stretch/>
        </p:blipFill>
        <p:spPr>
          <a:xfrm>
            <a:off x="6993835" y="0"/>
            <a:ext cx="519816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9B02B0-38B0-7CF2-37C6-0E8CD6B234B4}"/>
              </a:ext>
            </a:extLst>
          </p:cNvPr>
          <p:cNvSpPr txBox="1"/>
          <p:nvPr/>
        </p:nvSpPr>
        <p:spPr>
          <a:xfrm>
            <a:off x="1053548" y="447261"/>
            <a:ext cx="5940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lgerian" panose="04020705040A02060702" pitchFamily="82" charset="0"/>
              </a:rPr>
              <a:t>Relationship Overview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33CA0-F6BC-9398-9EC5-83C3802B565E}"/>
              </a:ext>
            </a:extLst>
          </p:cNvPr>
          <p:cNvSpPr txBox="1"/>
          <p:nvPr/>
        </p:nvSpPr>
        <p:spPr>
          <a:xfrm>
            <a:off x="769435" y="1721168"/>
            <a:ext cx="2397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One-to-Many Relationship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6A8EAB-3D2B-A7E6-1EB6-3C9600A82E08}"/>
              </a:ext>
            </a:extLst>
          </p:cNvPr>
          <p:cNvSpPr txBox="1"/>
          <p:nvPr/>
        </p:nvSpPr>
        <p:spPr>
          <a:xfrm>
            <a:off x="4516568" y="1730379"/>
            <a:ext cx="2397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Many-to-Many Relationship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D64B09-7433-CE79-42C4-C12CB327DAAB}"/>
              </a:ext>
            </a:extLst>
          </p:cNvPr>
          <p:cNvSpPr txBox="1"/>
          <p:nvPr/>
        </p:nvSpPr>
        <p:spPr>
          <a:xfrm>
            <a:off x="3914381" y="1730379"/>
            <a:ext cx="54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E32B4A"/>
                </a:highlight>
                <a:latin typeface="Algerian" panose="04020705040A02060702" pitchFamily="82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AA40D-1A02-B93E-6D71-D430985A3245}"/>
              </a:ext>
            </a:extLst>
          </p:cNvPr>
          <p:cNvSpPr txBox="1"/>
          <p:nvPr/>
        </p:nvSpPr>
        <p:spPr>
          <a:xfrm>
            <a:off x="274399" y="1730379"/>
            <a:ext cx="495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E32B4A"/>
                </a:highlight>
                <a:latin typeface="Algerian" panose="04020705040A02060702" pitchFamily="82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435776-07D3-AEF7-1C2B-088A6511BF8B}"/>
              </a:ext>
            </a:extLst>
          </p:cNvPr>
          <p:cNvSpPr txBox="1"/>
          <p:nvPr/>
        </p:nvSpPr>
        <p:spPr>
          <a:xfrm>
            <a:off x="769435" y="2625087"/>
            <a:ext cx="24978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Supplies To Stock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Location to Stock, Supplies to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Supply_order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Suppliers to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Supply_order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emergency_events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Emergency_Distribution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Staff to  Locations etc.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99284-C1F1-AB8B-E0F5-95C0AA9EBAA6}"/>
              </a:ext>
            </a:extLst>
          </p:cNvPr>
          <p:cNvSpPr txBox="1"/>
          <p:nvPr/>
        </p:nvSpPr>
        <p:spPr>
          <a:xfrm>
            <a:off x="4516568" y="2625087"/>
            <a:ext cx="23971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Suppliers to Location through the supplier location table</a:t>
            </a:r>
          </a:p>
        </p:txBody>
      </p:sp>
    </p:spTree>
    <p:extLst>
      <p:ext uri="{BB962C8B-B14F-4D97-AF65-F5344CB8AC3E}">
        <p14:creationId xmlns:p14="http://schemas.microsoft.com/office/powerpoint/2010/main" val="1933637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" grpId="0"/>
      <p:bldP spid="6" grpId="0"/>
      <p:bldP spid="7" grpId="0"/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AFFA5-BB40-0DFE-5FBF-F01C7826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68A675B-6932-D8A8-CE98-B39ED0671477}"/>
              </a:ext>
            </a:extLst>
          </p:cNvPr>
          <p:cNvGrpSpPr/>
          <p:nvPr/>
        </p:nvGrpSpPr>
        <p:grpSpPr>
          <a:xfrm>
            <a:off x="-9910915" y="0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717B987-2E73-5985-177B-71795E09A429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5675970 h 6858000"/>
                <a:gd name="connsiteX3" fmla="*/ 11309193 w 11430000"/>
                <a:gd name="connsiteY3" fmla="*/ 5675970 h 6858000"/>
                <a:gd name="connsiteX4" fmla="*/ 11430000 w 11430000"/>
                <a:gd name="connsiteY4" fmla="*/ 5796777 h 6858000"/>
                <a:gd name="connsiteX5" fmla="*/ 11430000 w 11430000"/>
                <a:gd name="connsiteY5" fmla="*/ 6279993 h 6858000"/>
                <a:gd name="connsiteX6" fmla="*/ 11309193 w 11430000"/>
                <a:gd name="connsiteY6" fmla="*/ 6400800 h 6858000"/>
                <a:gd name="connsiteX7" fmla="*/ 10760927 w 11430000"/>
                <a:gd name="connsiteY7" fmla="*/ 640080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5675970"/>
                  </a:lnTo>
                  <a:lnTo>
                    <a:pt x="11309193" y="5675970"/>
                  </a:lnTo>
                  <a:cubicBezTo>
                    <a:pt x="11375913" y="5675970"/>
                    <a:pt x="11430000" y="5730057"/>
                    <a:pt x="11430000" y="5796777"/>
                  </a:cubicBezTo>
                  <a:lnTo>
                    <a:pt x="11430000" y="6279993"/>
                  </a:lnTo>
                  <a:cubicBezTo>
                    <a:pt x="11430000" y="6346713"/>
                    <a:pt x="11375913" y="6400800"/>
                    <a:pt x="11309193" y="6400800"/>
                  </a:cubicBezTo>
                  <a:lnTo>
                    <a:pt x="10760927" y="640080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C34361-04EC-E288-77F5-B795A0102CA9}"/>
                </a:ext>
              </a:extLst>
            </p:cNvPr>
            <p:cNvSpPr txBox="1"/>
            <p:nvPr/>
          </p:nvSpPr>
          <p:spPr>
            <a:xfrm>
              <a:off x="10805531" y="572057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7BF626-961E-AAE6-402B-FCF6E37DD303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Retrieve supplies and their current stock level for each location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311587-59D9-6363-99CB-BFD07AAB8053}"/>
                </a:ext>
              </a:extLst>
            </p:cNvPr>
            <p:cNvSpPr txBox="1"/>
            <p:nvPr/>
          </p:nvSpPr>
          <p:spPr>
            <a:xfrm>
              <a:off x="864218" y="1330090"/>
              <a:ext cx="10878016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"Location", 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"Supply",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st.quantity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Stock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st.supply_id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25910D-D98A-6C9B-ECE8-04461DF66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24810" y="3248644"/>
              <a:ext cx="5590517" cy="3383573"/>
            </a:xfrm>
            <a:prstGeom prst="rect">
              <a:avLst/>
            </a:prstGeom>
            <a:effectLst>
              <a:outerShdw blurRad="1130300" dist="50800" dir="5400000" algn="ctr" rotWithShape="0">
                <a:srgbClr val="000000">
                  <a:alpha val="43137"/>
                </a:srgb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8A7C3AD-9B86-E2A2-5D12-851C9894C5CC}"/>
              </a:ext>
            </a:extLst>
          </p:cNvPr>
          <p:cNvGrpSpPr/>
          <p:nvPr/>
        </p:nvGrpSpPr>
        <p:grpSpPr>
          <a:xfrm>
            <a:off x="-10075883" y="0"/>
            <a:ext cx="12054468" cy="6858000"/>
            <a:chOff x="0" y="-55894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F99002B-28CA-26B2-287E-6A1AD01A539B}"/>
                </a:ext>
              </a:extLst>
            </p:cNvPr>
            <p:cNvSpPr/>
            <p:nvPr/>
          </p:nvSpPr>
          <p:spPr>
            <a:xfrm>
              <a:off x="0" y="-55894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371276 h 6858000"/>
                <a:gd name="connsiteX3" fmla="*/ 11309193 w 11430000"/>
                <a:gd name="connsiteY3" fmla="*/ 4371276 h 6858000"/>
                <a:gd name="connsiteX4" fmla="*/ 11430000 w 11430000"/>
                <a:gd name="connsiteY4" fmla="*/ 4492083 h 6858000"/>
                <a:gd name="connsiteX5" fmla="*/ 11430000 w 11430000"/>
                <a:gd name="connsiteY5" fmla="*/ 4975299 h 6858000"/>
                <a:gd name="connsiteX6" fmla="*/ 11309193 w 11430000"/>
                <a:gd name="connsiteY6" fmla="*/ 5096106 h 6858000"/>
                <a:gd name="connsiteX7" fmla="*/ 10760927 w 11430000"/>
                <a:gd name="connsiteY7" fmla="*/ 5096106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371276"/>
                  </a:lnTo>
                  <a:lnTo>
                    <a:pt x="11309193" y="4371276"/>
                  </a:lnTo>
                  <a:cubicBezTo>
                    <a:pt x="11375913" y="4371276"/>
                    <a:pt x="11430000" y="4425363"/>
                    <a:pt x="11430000" y="4492083"/>
                  </a:cubicBezTo>
                  <a:lnTo>
                    <a:pt x="11430000" y="4975299"/>
                  </a:lnTo>
                  <a:cubicBezTo>
                    <a:pt x="11430000" y="5042019"/>
                    <a:pt x="11375913" y="5096106"/>
                    <a:pt x="11309193" y="5096106"/>
                  </a:cubicBezTo>
                  <a:lnTo>
                    <a:pt x="10760927" y="5096106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374B8F0-FE42-3171-9A01-D16C85AB1434}"/>
                </a:ext>
              </a:extLst>
            </p:cNvPr>
            <p:cNvSpPr txBox="1"/>
            <p:nvPr/>
          </p:nvSpPr>
          <p:spPr>
            <a:xfrm>
              <a:off x="10805531" y="4404731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1CCC90-B150-A6DB-CDC7-C35FEA343050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Regions With Highest Emergency Distributions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8E071E-8915-1621-9D09-7C6E5D84BDD5}"/>
                </a:ext>
              </a:extLst>
            </p:cNvPr>
            <p:cNvSpPr txBox="1"/>
            <p:nvPr/>
          </p:nvSpPr>
          <p:spPr>
            <a:xfrm>
              <a:off x="620769" y="1170040"/>
              <a:ext cx="10710748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,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GROUP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E79A4DC-D13B-FFB9-309E-C19AF4465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5317" y="3706777"/>
              <a:ext cx="4039111" cy="2905896"/>
            </a:xfrm>
            <a:prstGeom prst="rect">
              <a:avLst/>
            </a:prstGeom>
            <a:effectLst>
              <a:outerShdw blurRad="520700" dist="50800" dir="5400000" algn="ctr" rotWithShape="0">
                <a:srgbClr val="000000"/>
              </a:outerShdw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088433E-4EFF-DAF1-E44D-F4F4DB192CD4}"/>
              </a:ext>
            </a:extLst>
          </p:cNvPr>
          <p:cNvGrpSpPr/>
          <p:nvPr/>
        </p:nvGrpSpPr>
        <p:grpSpPr>
          <a:xfrm>
            <a:off x="-10330748" y="2735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BE2BFB6-4D7D-189A-668E-CA4168393CEB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3066584 h 6858000"/>
                <a:gd name="connsiteX3" fmla="*/ 11309193 w 11430000"/>
                <a:gd name="connsiteY3" fmla="*/ 3066584 h 6858000"/>
                <a:gd name="connsiteX4" fmla="*/ 11430000 w 11430000"/>
                <a:gd name="connsiteY4" fmla="*/ 3187391 h 6858000"/>
                <a:gd name="connsiteX5" fmla="*/ 11430000 w 11430000"/>
                <a:gd name="connsiteY5" fmla="*/ 3670607 h 6858000"/>
                <a:gd name="connsiteX6" fmla="*/ 11309193 w 11430000"/>
                <a:gd name="connsiteY6" fmla="*/ 3791414 h 6858000"/>
                <a:gd name="connsiteX7" fmla="*/ 10760927 w 11430000"/>
                <a:gd name="connsiteY7" fmla="*/ 3791414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3066584"/>
                  </a:lnTo>
                  <a:lnTo>
                    <a:pt x="11309193" y="3066584"/>
                  </a:lnTo>
                  <a:cubicBezTo>
                    <a:pt x="11375913" y="3066584"/>
                    <a:pt x="11430000" y="3120671"/>
                    <a:pt x="11430000" y="3187391"/>
                  </a:cubicBezTo>
                  <a:lnTo>
                    <a:pt x="11430000" y="3670607"/>
                  </a:lnTo>
                  <a:cubicBezTo>
                    <a:pt x="11430000" y="3737327"/>
                    <a:pt x="11375913" y="3791414"/>
                    <a:pt x="11309193" y="3791414"/>
                  </a:cubicBezTo>
                  <a:lnTo>
                    <a:pt x="10760927" y="3791414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8D118B4-D71E-4025-D3DC-CA7151BEDD1C}"/>
                </a:ext>
              </a:extLst>
            </p:cNvPr>
            <p:cNvSpPr txBox="1"/>
            <p:nvPr/>
          </p:nvSpPr>
          <p:spPr>
            <a:xfrm>
              <a:off x="10805531" y="3105834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74D69E-CE16-DB7C-A776-26FD9BCDC995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Find Supplies That Are Below the Average Reorder Level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9EB90A-7D02-52E0-72C5-6B4AF029BC2E}"/>
                </a:ext>
              </a:extLst>
            </p:cNvPr>
            <p:cNvSpPr txBox="1"/>
            <p:nvPr/>
          </p:nvSpPr>
          <p:spPr>
            <a:xfrm>
              <a:off x="1031486" y="1360876"/>
              <a:ext cx="1071074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endParaRPr lang="en-US" sz="2400" dirty="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WHERE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	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(SELECT AVG(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Supplies);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5F805FA-5652-86E2-F317-9E29E0C9F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57309" y="3595585"/>
              <a:ext cx="3859102" cy="2847079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F52657-7B12-05C0-F1DD-B424FC2C8561}"/>
              </a:ext>
            </a:extLst>
          </p:cNvPr>
          <p:cNvGrpSpPr/>
          <p:nvPr/>
        </p:nvGrpSpPr>
        <p:grpSpPr>
          <a:xfrm>
            <a:off x="-10487158" y="547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BA17ABA-7DB8-5407-3E34-9FA98AA77B16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1761892 h 6858000"/>
                <a:gd name="connsiteX3" fmla="*/ 11309193 w 11430000"/>
                <a:gd name="connsiteY3" fmla="*/ 1761892 h 6858000"/>
                <a:gd name="connsiteX4" fmla="*/ 11430000 w 11430000"/>
                <a:gd name="connsiteY4" fmla="*/ 1882699 h 6858000"/>
                <a:gd name="connsiteX5" fmla="*/ 11430000 w 11430000"/>
                <a:gd name="connsiteY5" fmla="*/ 2365915 h 6858000"/>
                <a:gd name="connsiteX6" fmla="*/ 11309193 w 11430000"/>
                <a:gd name="connsiteY6" fmla="*/ 2486722 h 6858000"/>
                <a:gd name="connsiteX7" fmla="*/ 10760927 w 11430000"/>
                <a:gd name="connsiteY7" fmla="*/ 2486722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1761892"/>
                  </a:lnTo>
                  <a:lnTo>
                    <a:pt x="11309193" y="1761892"/>
                  </a:lnTo>
                  <a:cubicBezTo>
                    <a:pt x="11375913" y="1761892"/>
                    <a:pt x="11430000" y="1815979"/>
                    <a:pt x="11430000" y="1882699"/>
                  </a:cubicBezTo>
                  <a:lnTo>
                    <a:pt x="11430000" y="2365915"/>
                  </a:lnTo>
                  <a:cubicBezTo>
                    <a:pt x="11430000" y="2432635"/>
                    <a:pt x="11375913" y="2486722"/>
                    <a:pt x="11309193" y="2486722"/>
                  </a:cubicBezTo>
                  <a:lnTo>
                    <a:pt x="10760927" y="2486722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9372532-119A-9C3E-1D70-9EB4FD14D942}"/>
                </a:ext>
              </a:extLst>
            </p:cNvPr>
            <p:cNvSpPr txBox="1"/>
            <p:nvPr/>
          </p:nvSpPr>
          <p:spPr>
            <a:xfrm>
              <a:off x="10805530" y="1817648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755B528-21C9-D386-F5A7-688F1EB5D5D9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Calculate Total Supplies Dispatched per Event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A724772-02B3-C177-8DEA-28EAB565EDCA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FROM   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Emergency_Events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INNER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JOIN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 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ee.event_id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ed.event_id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   GROUP BY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BY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03AD7D0-B462-9286-C476-7696B6A46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89665" y="3216897"/>
              <a:ext cx="4572396" cy="3493311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BE7DC9B-6981-8F7A-61F1-31C84BBD98EF}"/>
              </a:ext>
            </a:extLst>
          </p:cNvPr>
          <p:cNvGrpSpPr/>
          <p:nvPr/>
        </p:nvGrpSpPr>
        <p:grpSpPr>
          <a:xfrm>
            <a:off x="-10700351" y="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E00E01F-496B-115B-FCF4-1C013778B21E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57200 h 6858000"/>
                <a:gd name="connsiteX3" fmla="*/ 11309193 w 11430000"/>
                <a:gd name="connsiteY3" fmla="*/ 457200 h 6858000"/>
                <a:gd name="connsiteX4" fmla="*/ 11430000 w 11430000"/>
                <a:gd name="connsiteY4" fmla="*/ 578007 h 6858000"/>
                <a:gd name="connsiteX5" fmla="*/ 11430000 w 11430000"/>
                <a:gd name="connsiteY5" fmla="*/ 1061223 h 6858000"/>
                <a:gd name="connsiteX6" fmla="*/ 11309193 w 11430000"/>
                <a:gd name="connsiteY6" fmla="*/ 1182030 h 6858000"/>
                <a:gd name="connsiteX7" fmla="*/ 10760927 w 11430000"/>
                <a:gd name="connsiteY7" fmla="*/ 118203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57200"/>
                  </a:lnTo>
                  <a:lnTo>
                    <a:pt x="11309193" y="457200"/>
                  </a:lnTo>
                  <a:cubicBezTo>
                    <a:pt x="11375913" y="457200"/>
                    <a:pt x="11430000" y="511287"/>
                    <a:pt x="11430000" y="578007"/>
                  </a:cubicBezTo>
                  <a:lnTo>
                    <a:pt x="11430000" y="1061223"/>
                  </a:lnTo>
                  <a:cubicBezTo>
                    <a:pt x="11430000" y="1127943"/>
                    <a:pt x="11375913" y="1182030"/>
                    <a:pt x="11309193" y="1182030"/>
                  </a:cubicBezTo>
                  <a:lnTo>
                    <a:pt x="10760927" y="118203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9A60FD4-B409-B181-381C-97B12BD83CBE}"/>
                </a:ext>
              </a:extLst>
            </p:cNvPr>
            <p:cNvSpPr txBox="1"/>
            <p:nvPr/>
          </p:nvSpPr>
          <p:spPr>
            <a:xfrm>
              <a:off x="10805530" y="51295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397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75BBFFC-DDE9-D63F-3B34-96B9AFE62A1E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Find the Total Quantity of Each Supply Dispatched Across All Events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12EB77A-DAAE-CFBF-2E3D-00B98E613844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Supply_Name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Join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	     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ed.supply_id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        GROUP BY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 BY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15E7F15-0D1A-F131-CC99-51F1CCF2D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03702" y="3763440"/>
              <a:ext cx="4984595" cy="2614177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A110C9B-D890-2AC1-A814-7F9A070AE6A0}"/>
              </a:ext>
            </a:extLst>
          </p:cNvPr>
          <p:cNvSpPr txBox="1"/>
          <p:nvPr/>
        </p:nvSpPr>
        <p:spPr>
          <a:xfrm>
            <a:off x="2789169" y="759515"/>
            <a:ext cx="88932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Queries</a:t>
            </a:r>
            <a:r>
              <a:rPr lang="en-US" dirty="0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CF8426-A53C-67CD-CE96-9DA8F129C5C4}"/>
              </a:ext>
            </a:extLst>
          </p:cNvPr>
          <p:cNvSpPr txBox="1"/>
          <p:nvPr/>
        </p:nvSpPr>
        <p:spPr>
          <a:xfrm>
            <a:off x="2143553" y="3246199"/>
            <a:ext cx="1143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That represents the importance of this system  </a:t>
            </a:r>
          </a:p>
        </p:txBody>
      </p:sp>
    </p:spTree>
    <p:extLst>
      <p:ext uri="{BB962C8B-B14F-4D97-AF65-F5344CB8AC3E}">
        <p14:creationId xmlns:p14="http://schemas.microsoft.com/office/powerpoint/2010/main" val="4268513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269540-8151-9F89-A10A-EAD43F16E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3C9C5F2-BBA6-913C-8602-691B727178C1}"/>
              </a:ext>
            </a:extLst>
          </p:cNvPr>
          <p:cNvGrpSpPr/>
          <p:nvPr/>
        </p:nvGrpSpPr>
        <p:grpSpPr>
          <a:xfrm>
            <a:off x="539763" y="0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E4CD68BF-6634-EE79-B2ED-87678D19B8AF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5675970 h 6858000"/>
                <a:gd name="connsiteX3" fmla="*/ 11309193 w 11430000"/>
                <a:gd name="connsiteY3" fmla="*/ 5675970 h 6858000"/>
                <a:gd name="connsiteX4" fmla="*/ 11430000 w 11430000"/>
                <a:gd name="connsiteY4" fmla="*/ 5796777 h 6858000"/>
                <a:gd name="connsiteX5" fmla="*/ 11430000 w 11430000"/>
                <a:gd name="connsiteY5" fmla="*/ 6279993 h 6858000"/>
                <a:gd name="connsiteX6" fmla="*/ 11309193 w 11430000"/>
                <a:gd name="connsiteY6" fmla="*/ 6400800 h 6858000"/>
                <a:gd name="connsiteX7" fmla="*/ 10760927 w 11430000"/>
                <a:gd name="connsiteY7" fmla="*/ 640080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5675970"/>
                  </a:lnTo>
                  <a:lnTo>
                    <a:pt x="11309193" y="5675970"/>
                  </a:lnTo>
                  <a:cubicBezTo>
                    <a:pt x="11375913" y="5675970"/>
                    <a:pt x="11430000" y="5730057"/>
                    <a:pt x="11430000" y="5796777"/>
                  </a:cubicBezTo>
                  <a:lnTo>
                    <a:pt x="11430000" y="6279993"/>
                  </a:lnTo>
                  <a:cubicBezTo>
                    <a:pt x="11430000" y="6346713"/>
                    <a:pt x="11375913" y="6400800"/>
                    <a:pt x="11309193" y="6400800"/>
                  </a:cubicBezTo>
                  <a:lnTo>
                    <a:pt x="10760927" y="640080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3FBEB-606A-2C80-AA0B-F9D7B85ACA94}"/>
                </a:ext>
              </a:extLst>
            </p:cNvPr>
            <p:cNvSpPr txBox="1"/>
            <p:nvPr/>
          </p:nvSpPr>
          <p:spPr>
            <a:xfrm>
              <a:off x="10805531" y="572057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2B1CDC-9166-7C32-226D-501CDAB651D0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Retrieve supplies and their current stock level for each location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024BEF3-4AA7-3971-F173-DC684F7CA3C4}"/>
                </a:ext>
              </a:extLst>
            </p:cNvPr>
            <p:cNvSpPr txBox="1"/>
            <p:nvPr/>
          </p:nvSpPr>
          <p:spPr>
            <a:xfrm>
              <a:off x="864218" y="1330090"/>
              <a:ext cx="10878016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"Location", 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"Supply",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st.quantity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Stock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st.supply_id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10CF698-8EFB-3EA5-6601-98DCE7581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24810" y="3248644"/>
              <a:ext cx="5590517" cy="3383573"/>
            </a:xfrm>
            <a:prstGeom prst="rect">
              <a:avLst/>
            </a:prstGeom>
            <a:effectLst>
              <a:outerShdw blurRad="1130300" dist="50800" dir="5400000" algn="ctr" rotWithShape="0">
                <a:srgbClr val="000000">
                  <a:alpha val="43137"/>
                </a:srgb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FB049D-D4BF-993F-906A-B0FC75189497}"/>
              </a:ext>
            </a:extLst>
          </p:cNvPr>
          <p:cNvGrpSpPr/>
          <p:nvPr/>
        </p:nvGrpSpPr>
        <p:grpSpPr>
          <a:xfrm>
            <a:off x="-10075883" y="0"/>
            <a:ext cx="12054468" cy="6858000"/>
            <a:chOff x="0" y="-55894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A5AA12A-4616-366E-4F3F-5B251524A7F6}"/>
                </a:ext>
              </a:extLst>
            </p:cNvPr>
            <p:cNvSpPr/>
            <p:nvPr/>
          </p:nvSpPr>
          <p:spPr>
            <a:xfrm>
              <a:off x="0" y="-55894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371276 h 6858000"/>
                <a:gd name="connsiteX3" fmla="*/ 11309193 w 11430000"/>
                <a:gd name="connsiteY3" fmla="*/ 4371276 h 6858000"/>
                <a:gd name="connsiteX4" fmla="*/ 11430000 w 11430000"/>
                <a:gd name="connsiteY4" fmla="*/ 4492083 h 6858000"/>
                <a:gd name="connsiteX5" fmla="*/ 11430000 w 11430000"/>
                <a:gd name="connsiteY5" fmla="*/ 4975299 h 6858000"/>
                <a:gd name="connsiteX6" fmla="*/ 11309193 w 11430000"/>
                <a:gd name="connsiteY6" fmla="*/ 5096106 h 6858000"/>
                <a:gd name="connsiteX7" fmla="*/ 10760927 w 11430000"/>
                <a:gd name="connsiteY7" fmla="*/ 5096106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371276"/>
                  </a:lnTo>
                  <a:lnTo>
                    <a:pt x="11309193" y="4371276"/>
                  </a:lnTo>
                  <a:cubicBezTo>
                    <a:pt x="11375913" y="4371276"/>
                    <a:pt x="11430000" y="4425363"/>
                    <a:pt x="11430000" y="4492083"/>
                  </a:cubicBezTo>
                  <a:lnTo>
                    <a:pt x="11430000" y="4975299"/>
                  </a:lnTo>
                  <a:cubicBezTo>
                    <a:pt x="11430000" y="5042019"/>
                    <a:pt x="11375913" y="5096106"/>
                    <a:pt x="11309193" y="5096106"/>
                  </a:cubicBezTo>
                  <a:lnTo>
                    <a:pt x="10760927" y="5096106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66A5C53-9DC3-D3C4-7728-16A9CED7AD67}"/>
                </a:ext>
              </a:extLst>
            </p:cNvPr>
            <p:cNvSpPr txBox="1"/>
            <p:nvPr/>
          </p:nvSpPr>
          <p:spPr>
            <a:xfrm>
              <a:off x="10805531" y="4404731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A0E012-63F6-AC64-06F1-AF3C3D410AB3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Regions With Highest Emergency Distributions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EC5ECA-7FE1-5783-2BA5-F1B743D47550}"/>
                </a:ext>
              </a:extLst>
            </p:cNvPr>
            <p:cNvSpPr txBox="1"/>
            <p:nvPr/>
          </p:nvSpPr>
          <p:spPr>
            <a:xfrm>
              <a:off x="620769" y="1170040"/>
              <a:ext cx="10710748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,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GROUP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FBAE354-2160-B537-8FF2-E5FBCE902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5317" y="3706777"/>
              <a:ext cx="4039111" cy="2905896"/>
            </a:xfrm>
            <a:prstGeom prst="rect">
              <a:avLst/>
            </a:prstGeom>
            <a:effectLst>
              <a:outerShdw blurRad="520700" dist="50800" dir="5400000" algn="ctr" rotWithShape="0">
                <a:srgbClr val="000000"/>
              </a:outerShdw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5A81E5B-0FE5-6058-B1E1-2AF7AA282847}"/>
              </a:ext>
            </a:extLst>
          </p:cNvPr>
          <p:cNvGrpSpPr/>
          <p:nvPr/>
        </p:nvGrpSpPr>
        <p:grpSpPr>
          <a:xfrm>
            <a:off x="-10330748" y="2735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DA8360B-2F4C-540B-42E8-2A6CFE1B4190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3066584 h 6858000"/>
                <a:gd name="connsiteX3" fmla="*/ 11309193 w 11430000"/>
                <a:gd name="connsiteY3" fmla="*/ 3066584 h 6858000"/>
                <a:gd name="connsiteX4" fmla="*/ 11430000 w 11430000"/>
                <a:gd name="connsiteY4" fmla="*/ 3187391 h 6858000"/>
                <a:gd name="connsiteX5" fmla="*/ 11430000 w 11430000"/>
                <a:gd name="connsiteY5" fmla="*/ 3670607 h 6858000"/>
                <a:gd name="connsiteX6" fmla="*/ 11309193 w 11430000"/>
                <a:gd name="connsiteY6" fmla="*/ 3791414 h 6858000"/>
                <a:gd name="connsiteX7" fmla="*/ 10760927 w 11430000"/>
                <a:gd name="connsiteY7" fmla="*/ 3791414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3066584"/>
                  </a:lnTo>
                  <a:lnTo>
                    <a:pt x="11309193" y="3066584"/>
                  </a:lnTo>
                  <a:cubicBezTo>
                    <a:pt x="11375913" y="3066584"/>
                    <a:pt x="11430000" y="3120671"/>
                    <a:pt x="11430000" y="3187391"/>
                  </a:cubicBezTo>
                  <a:lnTo>
                    <a:pt x="11430000" y="3670607"/>
                  </a:lnTo>
                  <a:cubicBezTo>
                    <a:pt x="11430000" y="3737327"/>
                    <a:pt x="11375913" y="3791414"/>
                    <a:pt x="11309193" y="3791414"/>
                  </a:cubicBezTo>
                  <a:lnTo>
                    <a:pt x="10760927" y="3791414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0A8196-D9BB-950C-A9B7-FF839E7FC64B}"/>
                </a:ext>
              </a:extLst>
            </p:cNvPr>
            <p:cNvSpPr txBox="1"/>
            <p:nvPr/>
          </p:nvSpPr>
          <p:spPr>
            <a:xfrm>
              <a:off x="10805531" y="3105834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21915C-48A9-820A-1F44-CC52EC26E2FE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Find Supplies That Are Below the Average Reorder Level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8C62A21-47C7-6815-EAE5-03187AA698FC}"/>
                </a:ext>
              </a:extLst>
            </p:cNvPr>
            <p:cNvSpPr txBox="1"/>
            <p:nvPr/>
          </p:nvSpPr>
          <p:spPr>
            <a:xfrm>
              <a:off x="1031486" y="1360876"/>
              <a:ext cx="1071074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endParaRPr lang="en-US" sz="2400" dirty="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WHERE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	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(SELECT AVG(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Supplies);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259D81-65C8-9951-3B42-98B96A489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57309" y="3595585"/>
              <a:ext cx="3859102" cy="2847079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FCE1630-E4A5-F393-A960-7962ACE99BA1}"/>
              </a:ext>
            </a:extLst>
          </p:cNvPr>
          <p:cNvGrpSpPr/>
          <p:nvPr/>
        </p:nvGrpSpPr>
        <p:grpSpPr>
          <a:xfrm>
            <a:off x="-10487158" y="547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F499F33-FDAE-E598-A89D-3F9E94298264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1761892 h 6858000"/>
                <a:gd name="connsiteX3" fmla="*/ 11309193 w 11430000"/>
                <a:gd name="connsiteY3" fmla="*/ 1761892 h 6858000"/>
                <a:gd name="connsiteX4" fmla="*/ 11430000 w 11430000"/>
                <a:gd name="connsiteY4" fmla="*/ 1882699 h 6858000"/>
                <a:gd name="connsiteX5" fmla="*/ 11430000 w 11430000"/>
                <a:gd name="connsiteY5" fmla="*/ 2365915 h 6858000"/>
                <a:gd name="connsiteX6" fmla="*/ 11309193 w 11430000"/>
                <a:gd name="connsiteY6" fmla="*/ 2486722 h 6858000"/>
                <a:gd name="connsiteX7" fmla="*/ 10760927 w 11430000"/>
                <a:gd name="connsiteY7" fmla="*/ 2486722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1761892"/>
                  </a:lnTo>
                  <a:lnTo>
                    <a:pt x="11309193" y="1761892"/>
                  </a:lnTo>
                  <a:cubicBezTo>
                    <a:pt x="11375913" y="1761892"/>
                    <a:pt x="11430000" y="1815979"/>
                    <a:pt x="11430000" y="1882699"/>
                  </a:cubicBezTo>
                  <a:lnTo>
                    <a:pt x="11430000" y="2365915"/>
                  </a:lnTo>
                  <a:cubicBezTo>
                    <a:pt x="11430000" y="2432635"/>
                    <a:pt x="11375913" y="2486722"/>
                    <a:pt x="11309193" y="2486722"/>
                  </a:cubicBezTo>
                  <a:lnTo>
                    <a:pt x="10760927" y="2486722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3C449C-478F-E7BA-BF52-A047EFE3A955}"/>
                </a:ext>
              </a:extLst>
            </p:cNvPr>
            <p:cNvSpPr txBox="1"/>
            <p:nvPr/>
          </p:nvSpPr>
          <p:spPr>
            <a:xfrm>
              <a:off x="10805530" y="1817648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ED27246-8C55-4CC4-A599-FDE327B7940D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Calculate Total Supplies Dispatched per Event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A1CE5F8-D294-6AE3-F60B-78A98D21AC03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FROM   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Emergency_Events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INNER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JOIN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 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ee.event_id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ed.event_id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   GROUP BY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BY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ECF5BE7-D434-3774-6219-1B7D3B5C4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89665" y="3216897"/>
              <a:ext cx="4572396" cy="3493311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5AA1CD8-17CE-3C7E-0F2D-AFCA7A151AC7}"/>
              </a:ext>
            </a:extLst>
          </p:cNvPr>
          <p:cNvGrpSpPr/>
          <p:nvPr/>
        </p:nvGrpSpPr>
        <p:grpSpPr>
          <a:xfrm>
            <a:off x="-10700351" y="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5C0B8D5-F955-846E-DF28-B3A0998DE343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57200 h 6858000"/>
                <a:gd name="connsiteX3" fmla="*/ 11309193 w 11430000"/>
                <a:gd name="connsiteY3" fmla="*/ 457200 h 6858000"/>
                <a:gd name="connsiteX4" fmla="*/ 11430000 w 11430000"/>
                <a:gd name="connsiteY4" fmla="*/ 578007 h 6858000"/>
                <a:gd name="connsiteX5" fmla="*/ 11430000 w 11430000"/>
                <a:gd name="connsiteY5" fmla="*/ 1061223 h 6858000"/>
                <a:gd name="connsiteX6" fmla="*/ 11309193 w 11430000"/>
                <a:gd name="connsiteY6" fmla="*/ 1182030 h 6858000"/>
                <a:gd name="connsiteX7" fmla="*/ 10760927 w 11430000"/>
                <a:gd name="connsiteY7" fmla="*/ 118203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57200"/>
                  </a:lnTo>
                  <a:lnTo>
                    <a:pt x="11309193" y="457200"/>
                  </a:lnTo>
                  <a:cubicBezTo>
                    <a:pt x="11375913" y="457200"/>
                    <a:pt x="11430000" y="511287"/>
                    <a:pt x="11430000" y="578007"/>
                  </a:cubicBezTo>
                  <a:lnTo>
                    <a:pt x="11430000" y="1061223"/>
                  </a:lnTo>
                  <a:cubicBezTo>
                    <a:pt x="11430000" y="1127943"/>
                    <a:pt x="11375913" y="1182030"/>
                    <a:pt x="11309193" y="1182030"/>
                  </a:cubicBezTo>
                  <a:lnTo>
                    <a:pt x="10760927" y="118203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BEB8B17-3E57-2735-B0F9-B87DEC04D4BA}"/>
                </a:ext>
              </a:extLst>
            </p:cNvPr>
            <p:cNvSpPr txBox="1"/>
            <p:nvPr/>
          </p:nvSpPr>
          <p:spPr>
            <a:xfrm>
              <a:off x="10805530" y="51295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397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FC88AA4-6C68-995D-2E09-8823B4931DFF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Find the Total Quantity of Each Supply Dispatched Across All Events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9F104E-B8B4-2922-8493-E9E8A819D1E8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Supply_Name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Join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	     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ed.supply_id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        GROUP BY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 BY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3B0B52B-B68A-3801-E2B6-F8B697B7D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03702" y="3763440"/>
              <a:ext cx="4984595" cy="2614177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EDC5C16-7164-1BB5-99C5-75A5ED878C44}"/>
              </a:ext>
            </a:extLst>
          </p:cNvPr>
          <p:cNvSpPr txBox="1"/>
          <p:nvPr/>
        </p:nvSpPr>
        <p:spPr>
          <a:xfrm>
            <a:off x="14233918" y="1092783"/>
            <a:ext cx="88932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Queries</a:t>
            </a:r>
            <a:r>
              <a:rPr lang="en-US" sz="1100" dirty="0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D95D54-C93C-4629-F0EF-3FFBD1BECCB2}"/>
              </a:ext>
            </a:extLst>
          </p:cNvPr>
          <p:cNvSpPr txBox="1"/>
          <p:nvPr/>
        </p:nvSpPr>
        <p:spPr>
          <a:xfrm>
            <a:off x="13588302" y="3579467"/>
            <a:ext cx="1143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That represents the importance of this system  </a:t>
            </a:r>
          </a:p>
        </p:txBody>
      </p:sp>
    </p:spTree>
    <p:extLst>
      <p:ext uri="{BB962C8B-B14F-4D97-AF65-F5344CB8AC3E}">
        <p14:creationId xmlns:p14="http://schemas.microsoft.com/office/powerpoint/2010/main" val="1160688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24213-A3B2-F060-C0C8-D9A211BF8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83B9559-4C32-4B4C-E00D-896E2FF436A0}"/>
              </a:ext>
            </a:extLst>
          </p:cNvPr>
          <p:cNvGrpSpPr/>
          <p:nvPr/>
        </p:nvGrpSpPr>
        <p:grpSpPr>
          <a:xfrm>
            <a:off x="539763" y="0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E55B351-6C0E-B596-106B-841AAC9A1360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5675970 h 6858000"/>
                <a:gd name="connsiteX3" fmla="*/ 11309193 w 11430000"/>
                <a:gd name="connsiteY3" fmla="*/ 5675970 h 6858000"/>
                <a:gd name="connsiteX4" fmla="*/ 11430000 w 11430000"/>
                <a:gd name="connsiteY4" fmla="*/ 5796777 h 6858000"/>
                <a:gd name="connsiteX5" fmla="*/ 11430000 w 11430000"/>
                <a:gd name="connsiteY5" fmla="*/ 6279993 h 6858000"/>
                <a:gd name="connsiteX6" fmla="*/ 11309193 w 11430000"/>
                <a:gd name="connsiteY6" fmla="*/ 6400800 h 6858000"/>
                <a:gd name="connsiteX7" fmla="*/ 10760927 w 11430000"/>
                <a:gd name="connsiteY7" fmla="*/ 640080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5675970"/>
                  </a:lnTo>
                  <a:lnTo>
                    <a:pt x="11309193" y="5675970"/>
                  </a:lnTo>
                  <a:cubicBezTo>
                    <a:pt x="11375913" y="5675970"/>
                    <a:pt x="11430000" y="5730057"/>
                    <a:pt x="11430000" y="5796777"/>
                  </a:cubicBezTo>
                  <a:lnTo>
                    <a:pt x="11430000" y="6279993"/>
                  </a:lnTo>
                  <a:cubicBezTo>
                    <a:pt x="11430000" y="6346713"/>
                    <a:pt x="11375913" y="6400800"/>
                    <a:pt x="11309193" y="6400800"/>
                  </a:cubicBezTo>
                  <a:lnTo>
                    <a:pt x="10760927" y="640080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AB7EB95-8ECD-1811-E950-9C20F0A8ECF6}"/>
                </a:ext>
              </a:extLst>
            </p:cNvPr>
            <p:cNvSpPr txBox="1"/>
            <p:nvPr/>
          </p:nvSpPr>
          <p:spPr>
            <a:xfrm>
              <a:off x="10805531" y="572057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DD5B28B-EA9F-E4B7-BFC4-F97CB9CA35B0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Retrieve supplies and their current stock level for each location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ACA8ED-58BC-6FF5-E57F-F5707CC33423}"/>
                </a:ext>
              </a:extLst>
            </p:cNvPr>
            <p:cNvSpPr txBox="1"/>
            <p:nvPr/>
          </p:nvSpPr>
          <p:spPr>
            <a:xfrm>
              <a:off x="864218" y="1330090"/>
              <a:ext cx="10878016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"Location", 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"Supply",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st.quantity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Stock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st.supply_id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6CE8D03-1C53-133B-5DF1-F7D5D2788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24810" y="3248644"/>
              <a:ext cx="5590517" cy="3383573"/>
            </a:xfrm>
            <a:prstGeom prst="rect">
              <a:avLst/>
            </a:prstGeom>
            <a:effectLst>
              <a:outerShdw blurRad="1130300" dist="50800" dir="5400000" algn="ctr" rotWithShape="0">
                <a:srgbClr val="000000">
                  <a:alpha val="43137"/>
                </a:srgb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F90135-752D-27CE-3B16-637435C074B7}"/>
              </a:ext>
            </a:extLst>
          </p:cNvPr>
          <p:cNvGrpSpPr/>
          <p:nvPr/>
        </p:nvGrpSpPr>
        <p:grpSpPr>
          <a:xfrm>
            <a:off x="426825" y="0"/>
            <a:ext cx="12054468" cy="6858000"/>
            <a:chOff x="0" y="-55894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0D539F4-DD02-9413-7634-4EFFA60A7C30}"/>
                </a:ext>
              </a:extLst>
            </p:cNvPr>
            <p:cNvSpPr/>
            <p:nvPr/>
          </p:nvSpPr>
          <p:spPr>
            <a:xfrm>
              <a:off x="0" y="-55894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371276 h 6858000"/>
                <a:gd name="connsiteX3" fmla="*/ 11309193 w 11430000"/>
                <a:gd name="connsiteY3" fmla="*/ 4371276 h 6858000"/>
                <a:gd name="connsiteX4" fmla="*/ 11430000 w 11430000"/>
                <a:gd name="connsiteY4" fmla="*/ 4492083 h 6858000"/>
                <a:gd name="connsiteX5" fmla="*/ 11430000 w 11430000"/>
                <a:gd name="connsiteY5" fmla="*/ 4975299 h 6858000"/>
                <a:gd name="connsiteX6" fmla="*/ 11309193 w 11430000"/>
                <a:gd name="connsiteY6" fmla="*/ 5096106 h 6858000"/>
                <a:gd name="connsiteX7" fmla="*/ 10760927 w 11430000"/>
                <a:gd name="connsiteY7" fmla="*/ 5096106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371276"/>
                  </a:lnTo>
                  <a:lnTo>
                    <a:pt x="11309193" y="4371276"/>
                  </a:lnTo>
                  <a:cubicBezTo>
                    <a:pt x="11375913" y="4371276"/>
                    <a:pt x="11430000" y="4425363"/>
                    <a:pt x="11430000" y="4492083"/>
                  </a:cubicBezTo>
                  <a:lnTo>
                    <a:pt x="11430000" y="4975299"/>
                  </a:lnTo>
                  <a:cubicBezTo>
                    <a:pt x="11430000" y="5042019"/>
                    <a:pt x="11375913" y="5096106"/>
                    <a:pt x="11309193" y="5096106"/>
                  </a:cubicBezTo>
                  <a:lnTo>
                    <a:pt x="10760927" y="5096106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80B79EA-3D14-D563-BBA6-EC1415AEAA9C}"/>
                </a:ext>
              </a:extLst>
            </p:cNvPr>
            <p:cNvSpPr txBox="1"/>
            <p:nvPr/>
          </p:nvSpPr>
          <p:spPr>
            <a:xfrm>
              <a:off x="10805531" y="4404731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7440644-89B6-AD88-F77A-E0AEA8DD36AB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Regions With Highest Emergency Distributions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3D81ACC-7811-6952-0C42-EF417CFAABA2}"/>
                </a:ext>
              </a:extLst>
            </p:cNvPr>
            <p:cNvSpPr txBox="1"/>
            <p:nvPr/>
          </p:nvSpPr>
          <p:spPr>
            <a:xfrm>
              <a:off x="620769" y="1170040"/>
              <a:ext cx="10710748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,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GROUP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6B96C27-2B25-8C0A-5892-2B8B65E2B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5317" y="3706777"/>
              <a:ext cx="4039111" cy="2905896"/>
            </a:xfrm>
            <a:prstGeom prst="rect">
              <a:avLst/>
            </a:prstGeom>
            <a:effectLst>
              <a:outerShdw blurRad="520700" dist="50800" dir="5400000" algn="ctr" rotWithShape="0">
                <a:srgbClr val="000000"/>
              </a:outerShdw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BD0A76F-BC29-6C1A-65ED-D99BB33E7092}"/>
              </a:ext>
            </a:extLst>
          </p:cNvPr>
          <p:cNvGrpSpPr/>
          <p:nvPr/>
        </p:nvGrpSpPr>
        <p:grpSpPr>
          <a:xfrm>
            <a:off x="-10330748" y="2735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16C7F14-4087-31F3-BCF5-53050F6A39D3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3066584 h 6858000"/>
                <a:gd name="connsiteX3" fmla="*/ 11309193 w 11430000"/>
                <a:gd name="connsiteY3" fmla="*/ 3066584 h 6858000"/>
                <a:gd name="connsiteX4" fmla="*/ 11430000 w 11430000"/>
                <a:gd name="connsiteY4" fmla="*/ 3187391 h 6858000"/>
                <a:gd name="connsiteX5" fmla="*/ 11430000 w 11430000"/>
                <a:gd name="connsiteY5" fmla="*/ 3670607 h 6858000"/>
                <a:gd name="connsiteX6" fmla="*/ 11309193 w 11430000"/>
                <a:gd name="connsiteY6" fmla="*/ 3791414 h 6858000"/>
                <a:gd name="connsiteX7" fmla="*/ 10760927 w 11430000"/>
                <a:gd name="connsiteY7" fmla="*/ 3791414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3066584"/>
                  </a:lnTo>
                  <a:lnTo>
                    <a:pt x="11309193" y="3066584"/>
                  </a:lnTo>
                  <a:cubicBezTo>
                    <a:pt x="11375913" y="3066584"/>
                    <a:pt x="11430000" y="3120671"/>
                    <a:pt x="11430000" y="3187391"/>
                  </a:cubicBezTo>
                  <a:lnTo>
                    <a:pt x="11430000" y="3670607"/>
                  </a:lnTo>
                  <a:cubicBezTo>
                    <a:pt x="11430000" y="3737327"/>
                    <a:pt x="11375913" y="3791414"/>
                    <a:pt x="11309193" y="3791414"/>
                  </a:cubicBezTo>
                  <a:lnTo>
                    <a:pt x="10760927" y="3791414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E2FDD3-7E7D-BA38-3338-0AB416B77144}"/>
                </a:ext>
              </a:extLst>
            </p:cNvPr>
            <p:cNvSpPr txBox="1"/>
            <p:nvPr/>
          </p:nvSpPr>
          <p:spPr>
            <a:xfrm>
              <a:off x="10805531" y="3105834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C06D15-6A2D-1BDA-72A8-CA8816846DA5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Find Supplies That Are Below the Average Reorder Level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3375C5-C2F5-C201-E9B4-697F4751E931}"/>
                </a:ext>
              </a:extLst>
            </p:cNvPr>
            <p:cNvSpPr txBox="1"/>
            <p:nvPr/>
          </p:nvSpPr>
          <p:spPr>
            <a:xfrm>
              <a:off x="1031486" y="1360876"/>
              <a:ext cx="1071074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endParaRPr lang="en-US" sz="2400" dirty="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WHERE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	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(SELECT AVG(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Supplies);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76FBEDC-2D77-21BF-F834-1F09BF15A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57309" y="3595585"/>
              <a:ext cx="3859102" cy="2847079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0224C88-4795-78BE-8194-10C1FF390A2F}"/>
              </a:ext>
            </a:extLst>
          </p:cNvPr>
          <p:cNvGrpSpPr/>
          <p:nvPr/>
        </p:nvGrpSpPr>
        <p:grpSpPr>
          <a:xfrm>
            <a:off x="-10487158" y="547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233B909-A887-7C9B-0783-4CF74CE05B89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1761892 h 6858000"/>
                <a:gd name="connsiteX3" fmla="*/ 11309193 w 11430000"/>
                <a:gd name="connsiteY3" fmla="*/ 1761892 h 6858000"/>
                <a:gd name="connsiteX4" fmla="*/ 11430000 w 11430000"/>
                <a:gd name="connsiteY4" fmla="*/ 1882699 h 6858000"/>
                <a:gd name="connsiteX5" fmla="*/ 11430000 w 11430000"/>
                <a:gd name="connsiteY5" fmla="*/ 2365915 h 6858000"/>
                <a:gd name="connsiteX6" fmla="*/ 11309193 w 11430000"/>
                <a:gd name="connsiteY6" fmla="*/ 2486722 h 6858000"/>
                <a:gd name="connsiteX7" fmla="*/ 10760927 w 11430000"/>
                <a:gd name="connsiteY7" fmla="*/ 2486722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1761892"/>
                  </a:lnTo>
                  <a:lnTo>
                    <a:pt x="11309193" y="1761892"/>
                  </a:lnTo>
                  <a:cubicBezTo>
                    <a:pt x="11375913" y="1761892"/>
                    <a:pt x="11430000" y="1815979"/>
                    <a:pt x="11430000" y="1882699"/>
                  </a:cubicBezTo>
                  <a:lnTo>
                    <a:pt x="11430000" y="2365915"/>
                  </a:lnTo>
                  <a:cubicBezTo>
                    <a:pt x="11430000" y="2432635"/>
                    <a:pt x="11375913" y="2486722"/>
                    <a:pt x="11309193" y="2486722"/>
                  </a:cubicBezTo>
                  <a:lnTo>
                    <a:pt x="10760927" y="2486722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00E9B8-C72B-D8AB-0F5C-A63D2E36F418}"/>
                </a:ext>
              </a:extLst>
            </p:cNvPr>
            <p:cNvSpPr txBox="1"/>
            <p:nvPr/>
          </p:nvSpPr>
          <p:spPr>
            <a:xfrm>
              <a:off x="10805530" y="1817648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8D2336-2D64-97F0-5840-03831BDBCA34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Calculate Total Supplies Dispatched per Event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3458995-BA9D-7A84-9BB5-8C4E19BDB5B4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FROM   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Emergency_Events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INNER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JOIN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 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ee.event_id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ed.event_id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   GROUP BY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BY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10E95AA-654B-DE48-B75E-6A43BA2A4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89665" y="3216897"/>
              <a:ext cx="4572396" cy="3493311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38A966-33BE-624D-86EF-635D4713F9D5}"/>
              </a:ext>
            </a:extLst>
          </p:cNvPr>
          <p:cNvGrpSpPr/>
          <p:nvPr/>
        </p:nvGrpSpPr>
        <p:grpSpPr>
          <a:xfrm>
            <a:off x="-10700351" y="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35364E3-7218-43B4-775D-32E789156503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57200 h 6858000"/>
                <a:gd name="connsiteX3" fmla="*/ 11309193 w 11430000"/>
                <a:gd name="connsiteY3" fmla="*/ 457200 h 6858000"/>
                <a:gd name="connsiteX4" fmla="*/ 11430000 w 11430000"/>
                <a:gd name="connsiteY4" fmla="*/ 578007 h 6858000"/>
                <a:gd name="connsiteX5" fmla="*/ 11430000 w 11430000"/>
                <a:gd name="connsiteY5" fmla="*/ 1061223 h 6858000"/>
                <a:gd name="connsiteX6" fmla="*/ 11309193 w 11430000"/>
                <a:gd name="connsiteY6" fmla="*/ 1182030 h 6858000"/>
                <a:gd name="connsiteX7" fmla="*/ 10760927 w 11430000"/>
                <a:gd name="connsiteY7" fmla="*/ 118203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57200"/>
                  </a:lnTo>
                  <a:lnTo>
                    <a:pt x="11309193" y="457200"/>
                  </a:lnTo>
                  <a:cubicBezTo>
                    <a:pt x="11375913" y="457200"/>
                    <a:pt x="11430000" y="511287"/>
                    <a:pt x="11430000" y="578007"/>
                  </a:cubicBezTo>
                  <a:lnTo>
                    <a:pt x="11430000" y="1061223"/>
                  </a:lnTo>
                  <a:cubicBezTo>
                    <a:pt x="11430000" y="1127943"/>
                    <a:pt x="11375913" y="1182030"/>
                    <a:pt x="11309193" y="1182030"/>
                  </a:cubicBezTo>
                  <a:lnTo>
                    <a:pt x="10760927" y="118203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CF6C91-F8E6-CE74-A975-A247CC2BFA05}"/>
                </a:ext>
              </a:extLst>
            </p:cNvPr>
            <p:cNvSpPr txBox="1"/>
            <p:nvPr/>
          </p:nvSpPr>
          <p:spPr>
            <a:xfrm>
              <a:off x="10805530" y="51295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397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2E3CF3D-2987-E42E-B8ED-899CFC111396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Find the Total Quantity of Each Supply Dispatched Across All Events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89A8802-97F8-58FF-5AE5-4958C66F36BA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Supply_Name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Join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	     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ed.supply_id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        GROUP BY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 BY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A1AE9FF-6837-345D-F3AB-B3AABFD1E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03702" y="3763440"/>
              <a:ext cx="4984595" cy="2614177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0D299FD-5FDC-9AAA-266F-4B5E99607621}"/>
              </a:ext>
            </a:extLst>
          </p:cNvPr>
          <p:cNvSpPr txBox="1"/>
          <p:nvPr/>
        </p:nvSpPr>
        <p:spPr>
          <a:xfrm>
            <a:off x="14233918" y="1092783"/>
            <a:ext cx="88932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Queries</a:t>
            </a:r>
            <a:r>
              <a:rPr lang="en-US" sz="1100" dirty="0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DF24F3-0AC1-B5A9-2B1A-2A9CD77AD2C1}"/>
              </a:ext>
            </a:extLst>
          </p:cNvPr>
          <p:cNvSpPr txBox="1"/>
          <p:nvPr/>
        </p:nvSpPr>
        <p:spPr>
          <a:xfrm>
            <a:off x="13588302" y="3579467"/>
            <a:ext cx="1143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That represents the importance of this system  </a:t>
            </a:r>
          </a:p>
        </p:txBody>
      </p:sp>
    </p:spTree>
    <p:extLst>
      <p:ext uri="{BB962C8B-B14F-4D97-AF65-F5344CB8AC3E}">
        <p14:creationId xmlns:p14="http://schemas.microsoft.com/office/powerpoint/2010/main" val="927199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61509-8E16-F87A-43C9-DFD7725D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09C1470-2C9A-24E9-6EA4-C3E795B14FED}"/>
              </a:ext>
            </a:extLst>
          </p:cNvPr>
          <p:cNvGrpSpPr/>
          <p:nvPr/>
        </p:nvGrpSpPr>
        <p:grpSpPr>
          <a:xfrm>
            <a:off x="539763" y="0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031F900A-724F-0E3F-B149-8266E8ACD7DA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5675970 h 6858000"/>
                <a:gd name="connsiteX3" fmla="*/ 11309193 w 11430000"/>
                <a:gd name="connsiteY3" fmla="*/ 5675970 h 6858000"/>
                <a:gd name="connsiteX4" fmla="*/ 11430000 w 11430000"/>
                <a:gd name="connsiteY4" fmla="*/ 5796777 h 6858000"/>
                <a:gd name="connsiteX5" fmla="*/ 11430000 w 11430000"/>
                <a:gd name="connsiteY5" fmla="*/ 6279993 h 6858000"/>
                <a:gd name="connsiteX6" fmla="*/ 11309193 w 11430000"/>
                <a:gd name="connsiteY6" fmla="*/ 6400800 h 6858000"/>
                <a:gd name="connsiteX7" fmla="*/ 10760927 w 11430000"/>
                <a:gd name="connsiteY7" fmla="*/ 640080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5675970"/>
                  </a:lnTo>
                  <a:lnTo>
                    <a:pt x="11309193" y="5675970"/>
                  </a:lnTo>
                  <a:cubicBezTo>
                    <a:pt x="11375913" y="5675970"/>
                    <a:pt x="11430000" y="5730057"/>
                    <a:pt x="11430000" y="5796777"/>
                  </a:cubicBezTo>
                  <a:lnTo>
                    <a:pt x="11430000" y="6279993"/>
                  </a:lnTo>
                  <a:cubicBezTo>
                    <a:pt x="11430000" y="6346713"/>
                    <a:pt x="11375913" y="6400800"/>
                    <a:pt x="11309193" y="6400800"/>
                  </a:cubicBezTo>
                  <a:lnTo>
                    <a:pt x="10760927" y="640080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73E692-B4ED-E600-7E3D-DA6FE4DE56E8}"/>
                </a:ext>
              </a:extLst>
            </p:cNvPr>
            <p:cNvSpPr txBox="1"/>
            <p:nvPr/>
          </p:nvSpPr>
          <p:spPr>
            <a:xfrm>
              <a:off x="10805531" y="572057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1C8006-57A6-9803-C77D-0E3EA42BF1E2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Retrieve supplies and their current stock level for each location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49DDEFD-5E09-49A1-0949-5DC281DC70D4}"/>
                </a:ext>
              </a:extLst>
            </p:cNvPr>
            <p:cNvSpPr txBox="1"/>
            <p:nvPr/>
          </p:nvSpPr>
          <p:spPr>
            <a:xfrm>
              <a:off x="864218" y="1330090"/>
              <a:ext cx="10878016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"Location", 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"Supply",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st.quantity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Stock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st.supply_id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D3C4382-D5AB-22A6-1314-EF41FEA4C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24810" y="3248644"/>
              <a:ext cx="5590517" cy="3383573"/>
            </a:xfrm>
            <a:prstGeom prst="rect">
              <a:avLst/>
            </a:prstGeom>
            <a:effectLst>
              <a:outerShdw blurRad="1130300" dist="50800" dir="5400000" algn="ctr" rotWithShape="0">
                <a:srgbClr val="000000">
                  <a:alpha val="43137"/>
                </a:srgb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FC6F61-FC6F-DCD1-1588-53E33297EE16}"/>
              </a:ext>
            </a:extLst>
          </p:cNvPr>
          <p:cNvGrpSpPr/>
          <p:nvPr/>
        </p:nvGrpSpPr>
        <p:grpSpPr>
          <a:xfrm>
            <a:off x="426825" y="0"/>
            <a:ext cx="12054468" cy="6858000"/>
            <a:chOff x="0" y="-55894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B22E95C-5092-9A31-44B2-66491CE3CABE}"/>
                </a:ext>
              </a:extLst>
            </p:cNvPr>
            <p:cNvSpPr/>
            <p:nvPr/>
          </p:nvSpPr>
          <p:spPr>
            <a:xfrm>
              <a:off x="0" y="-55894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371276 h 6858000"/>
                <a:gd name="connsiteX3" fmla="*/ 11309193 w 11430000"/>
                <a:gd name="connsiteY3" fmla="*/ 4371276 h 6858000"/>
                <a:gd name="connsiteX4" fmla="*/ 11430000 w 11430000"/>
                <a:gd name="connsiteY4" fmla="*/ 4492083 h 6858000"/>
                <a:gd name="connsiteX5" fmla="*/ 11430000 w 11430000"/>
                <a:gd name="connsiteY5" fmla="*/ 4975299 h 6858000"/>
                <a:gd name="connsiteX6" fmla="*/ 11309193 w 11430000"/>
                <a:gd name="connsiteY6" fmla="*/ 5096106 h 6858000"/>
                <a:gd name="connsiteX7" fmla="*/ 10760927 w 11430000"/>
                <a:gd name="connsiteY7" fmla="*/ 5096106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371276"/>
                  </a:lnTo>
                  <a:lnTo>
                    <a:pt x="11309193" y="4371276"/>
                  </a:lnTo>
                  <a:cubicBezTo>
                    <a:pt x="11375913" y="4371276"/>
                    <a:pt x="11430000" y="4425363"/>
                    <a:pt x="11430000" y="4492083"/>
                  </a:cubicBezTo>
                  <a:lnTo>
                    <a:pt x="11430000" y="4975299"/>
                  </a:lnTo>
                  <a:cubicBezTo>
                    <a:pt x="11430000" y="5042019"/>
                    <a:pt x="11375913" y="5096106"/>
                    <a:pt x="11309193" y="5096106"/>
                  </a:cubicBezTo>
                  <a:lnTo>
                    <a:pt x="10760927" y="5096106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FA4638-231F-D600-627E-19BEF10E76DF}"/>
                </a:ext>
              </a:extLst>
            </p:cNvPr>
            <p:cNvSpPr txBox="1"/>
            <p:nvPr/>
          </p:nvSpPr>
          <p:spPr>
            <a:xfrm>
              <a:off x="10805531" y="4404731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6AAC470-2F94-DED0-85AD-A3D62B55DEC2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Regions With Highest Emergency Distributions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9FDC1D-E80D-4EF6-6733-7F65E5AD29EC}"/>
                </a:ext>
              </a:extLst>
            </p:cNvPr>
            <p:cNvSpPr txBox="1"/>
            <p:nvPr/>
          </p:nvSpPr>
          <p:spPr>
            <a:xfrm>
              <a:off x="620769" y="1170040"/>
              <a:ext cx="10710748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,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GROUP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9A9FDE4-960B-D28F-F3CB-56F632ECB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5317" y="3706777"/>
              <a:ext cx="4039111" cy="2905896"/>
            </a:xfrm>
            <a:prstGeom prst="rect">
              <a:avLst/>
            </a:prstGeom>
            <a:effectLst>
              <a:outerShdw blurRad="520700" dist="50800" dir="5400000" algn="ctr" rotWithShape="0">
                <a:srgbClr val="000000"/>
              </a:outerShdw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3FDA1E-5DDB-6833-AE4F-6EFE4189B1E4}"/>
              </a:ext>
            </a:extLst>
          </p:cNvPr>
          <p:cNvGrpSpPr/>
          <p:nvPr/>
        </p:nvGrpSpPr>
        <p:grpSpPr>
          <a:xfrm>
            <a:off x="315524" y="2735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07A7261-FF17-5643-82C9-E468DFFC526E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3066584 h 6858000"/>
                <a:gd name="connsiteX3" fmla="*/ 11309193 w 11430000"/>
                <a:gd name="connsiteY3" fmla="*/ 3066584 h 6858000"/>
                <a:gd name="connsiteX4" fmla="*/ 11430000 w 11430000"/>
                <a:gd name="connsiteY4" fmla="*/ 3187391 h 6858000"/>
                <a:gd name="connsiteX5" fmla="*/ 11430000 w 11430000"/>
                <a:gd name="connsiteY5" fmla="*/ 3670607 h 6858000"/>
                <a:gd name="connsiteX6" fmla="*/ 11309193 w 11430000"/>
                <a:gd name="connsiteY6" fmla="*/ 3791414 h 6858000"/>
                <a:gd name="connsiteX7" fmla="*/ 10760927 w 11430000"/>
                <a:gd name="connsiteY7" fmla="*/ 3791414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3066584"/>
                  </a:lnTo>
                  <a:lnTo>
                    <a:pt x="11309193" y="3066584"/>
                  </a:lnTo>
                  <a:cubicBezTo>
                    <a:pt x="11375913" y="3066584"/>
                    <a:pt x="11430000" y="3120671"/>
                    <a:pt x="11430000" y="3187391"/>
                  </a:cubicBezTo>
                  <a:lnTo>
                    <a:pt x="11430000" y="3670607"/>
                  </a:lnTo>
                  <a:cubicBezTo>
                    <a:pt x="11430000" y="3737327"/>
                    <a:pt x="11375913" y="3791414"/>
                    <a:pt x="11309193" y="3791414"/>
                  </a:cubicBezTo>
                  <a:lnTo>
                    <a:pt x="10760927" y="3791414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2E986D-738A-B637-CB23-19E501E4674C}"/>
                </a:ext>
              </a:extLst>
            </p:cNvPr>
            <p:cNvSpPr txBox="1"/>
            <p:nvPr/>
          </p:nvSpPr>
          <p:spPr>
            <a:xfrm>
              <a:off x="10805531" y="3105834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6AB494D-7FAC-BC8A-70A4-D70EFED497FD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Find Supplies That Are Below the Average Reorder Level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D1F70A-E621-8841-9B5D-EBEADB8648A2}"/>
                </a:ext>
              </a:extLst>
            </p:cNvPr>
            <p:cNvSpPr txBox="1"/>
            <p:nvPr/>
          </p:nvSpPr>
          <p:spPr>
            <a:xfrm>
              <a:off x="1031486" y="1360876"/>
              <a:ext cx="1071074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endParaRPr lang="en-US" sz="2400" dirty="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WHERE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	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(SELECT AVG(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Supplies);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5F83684-DD9B-CEEF-E65A-DDDFF1445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57309" y="3595585"/>
              <a:ext cx="3859102" cy="2847079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A244B9A-0EC0-4601-D0B7-0D332AFE2AC4}"/>
              </a:ext>
            </a:extLst>
          </p:cNvPr>
          <p:cNvGrpSpPr/>
          <p:nvPr/>
        </p:nvGrpSpPr>
        <p:grpSpPr>
          <a:xfrm>
            <a:off x="-10487158" y="547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9DBEDA8-D20F-0731-3033-29E0F74EA703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1761892 h 6858000"/>
                <a:gd name="connsiteX3" fmla="*/ 11309193 w 11430000"/>
                <a:gd name="connsiteY3" fmla="*/ 1761892 h 6858000"/>
                <a:gd name="connsiteX4" fmla="*/ 11430000 w 11430000"/>
                <a:gd name="connsiteY4" fmla="*/ 1882699 h 6858000"/>
                <a:gd name="connsiteX5" fmla="*/ 11430000 w 11430000"/>
                <a:gd name="connsiteY5" fmla="*/ 2365915 h 6858000"/>
                <a:gd name="connsiteX6" fmla="*/ 11309193 w 11430000"/>
                <a:gd name="connsiteY6" fmla="*/ 2486722 h 6858000"/>
                <a:gd name="connsiteX7" fmla="*/ 10760927 w 11430000"/>
                <a:gd name="connsiteY7" fmla="*/ 2486722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1761892"/>
                  </a:lnTo>
                  <a:lnTo>
                    <a:pt x="11309193" y="1761892"/>
                  </a:lnTo>
                  <a:cubicBezTo>
                    <a:pt x="11375913" y="1761892"/>
                    <a:pt x="11430000" y="1815979"/>
                    <a:pt x="11430000" y="1882699"/>
                  </a:cubicBezTo>
                  <a:lnTo>
                    <a:pt x="11430000" y="2365915"/>
                  </a:lnTo>
                  <a:cubicBezTo>
                    <a:pt x="11430000" y="2432635"/>
                    <a:pt x="11375913" y="2486722"/>
                    <a:pt x="11309193" y="2486722"/>
                  </a:cubicBezTo>
                  <a:lnTo>
                    <a:pt x="10760927" y="2486722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29BFB93-F3D7-378C-2F09-3A6E5783AA00}"/>
                </a:ext>
              </a:extLst>
            </p:cNvPr>
            <p:cNvSpPr txBox="1"/>
            <p:nvPr/>
          </p:nvSpPr>
          <p:spPr>
            <a:xfrm>
              <a:off x="10805530" y="1817648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D078D87-44D5-738A-3C2F-8446BC171D58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Calculate Total Supplies Dispatched per Event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9396CF6-EAEC-F4C0-C220-CD3F5C231BE3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FROM   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Emergency_Events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INNER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JOIN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 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ee.event_id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ed.event_id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   GROUP BY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BY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3158D64-1711-EA1E-F25F-8D5AF900C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89665" y="3216897"/>
              <a:ext cx="4572396" cy="3493311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8ABCFFA-867A-EC19-1372-7E6D17BE41B6}"/>
              </a:ext>
            </a:extLst>
          </p:cNvPr>
          <p:cNvGrpSpPr/>
          <p:nvPr/>
        </p:nvGrpSpPr>
        <p:grpSpPr>
          <a:xfrm>
            <a:off x="-10700351" y="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E89A9BB-030A-30AD-D9DE-CE23C1B23E0E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57200 h 6858000"/>
                <a:gd name="connsiteX3" fmla="*/ 11309193 w 11430000"/>
                <a:gd name="connsiteY3" fmla="*/ 457200 h 6858000"/>
                <a:gd name="connsiteX4" fmla="*/ 11430000 w 11430000"/>
                <a:gd name="connsiteY4" fmla="*/ 578007 h 6858000"/>
                <a:gd name="connsiteX5" fmla="*/ 11430000 w 11430000"/>
                <a:gd name="connsiteY5" fmla="*/ 1061223 h 6858000"/>
                <a:gd name="connsiteX6" fmla="*/ 11309193 w 11430000"/>
                <a:gd name="connsiteY6" fmla="*/ 1182030 h 6858000"/>
                <a:gd name="connsiteX7" fmla="*/ 10760927 w 11430000"/>
                <a:gd name="connsiteY7" fmla="*/ 118203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57200"/>
                  </a:lnTo>
                  <a:lnTo>
                    <a:pt x="11309193" y="457200"/>
                  </a:lnTo>
                  <a:cubicBezTo>
                    <a:pt x="11375913" y="457200"/>
                    <a:pt x="11430000" y="511287"/>
                    <a:pt x="11430000" y="578007"/>
                  </a:cubicBezTo>
                  <a:lnTo>
                    <a:pt x="11430000" y="1061223"/>
                  </a:lnTo>
                  <a:cubicBezTo>
                    <a:pt x="11430000" y="1127943"/>
                    <a:pt x="11375913" y="1182030"/>
                    <a:pt x="11309193" y="1182030"/>
                  </a:cubicBezTo>
                  <a:lnTo>
                    <a:pt x="10760927" y="118203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0F4479B-E0B6-EE7E-64C4-4D58F4F7F797}"/>
                </a:ext>
              </a:extLst>
            </p:cNvPr>
            <p:cNvSpPr txBox="1"/>
            <p:nvPr/>
          </p:nvSpPr>
          <p:spPr>
            <a:xfrm>
              <a:off x="10805530" y="51295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397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E895CB2-7913-8B4C-30F3-84F78ADF474F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Find the Total Quantity of Each Supply Dispatched Across All Events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61F5043-C31A-E534-22A7-77B9E5FCFA9C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Supply_Name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Join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	     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ed.supply_id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        GROUP BY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 BY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4DFF1C7-E9B3-995C-2DB6-A725E679C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03702" y="3763440"/>
              <a:ext cx="4984595" cy="2614177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74FA13A-6468-1545-FA55-824C613FD056}"/>
              </a:ext>
            </a:extLst>
          </p:cNvPr>
          <p:cNvSpPr txBox="1"/>
          <p:nvPr/>
        </p:nvSpPr>
        <p:spPr>
          <a:xfrm>
            <a:off x="14233918" y="1092783"/>
            <a:ext cx="88932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Queries</a:t>
            </a:r>
            <a:r>
              <a:rPr lang="en-US" sz="1100" dirty="0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FEC534-9DD7-A22F-C878-1B3238BD1E23}"/>
              </a:ext>
            </a:extLst>
          </p:cNvPr>
          <p:cNvSpPr txBox="1"/>
          <p:nvPr/>
        </p:nvSpPr>
        <p:spPr>
          <a:xfrm>
            <a:off x="13588302" y="3579467"/>
            <a:ext cx="1143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That represents the importance of this system  </a:t>
            </a:r>
          </a:p>
        </p:txBody>
      </p:sp>
    </p:spTree>
    <p:extLst>
      <p:ext uri="{BB962C8B-B14F-4D97-AF65-F5344CB8AC3E}">
        <p14:creationId xmlns:p14="http://schemas.microsoft.com/office/powerpoint/2010/main" val="1296567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98FDB-C2EA-575B-BE78-4803F6D8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462F5E9-79E3-F4AD-5B02-B27493FBB461}"/>
              </a:ext>
            </a:extLst>
          </p:cNvPr>
          <p:cNvGrpSpPr/>
          <p:nvPr/>
        </p:nvGrpSpPr>
        <p:grpSpPr>
          <a:xfrm>
            <a:off x="539763" y="0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6B440EF-22FE-EFED-7715-85C5AE53DC6F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5675970 h 6858000"/>
                <a:gd name="connsiteX3" fmla="*/ 11309193 w 11430000"/>
                <a:gd name="connsiteY3" fmla="*/ 5675970 h 6858000"/>
                <a:gd name="connsiteX4" fmla="*/ 11430000 w 11430000"/>
                <a:gd name="connsiteY4" fmla="*/ 5796777 h 6858000"/>
                <a:gd name="connsiteX5" fmla="*/ 11430000 w 11430000"/>
                <a:gd name="connsiteY5" fmla="*/ 6279993 h 6858000"/>
                <a:gd name="connsiteX6" fmla="*/ 11309193 w 11430000"/>
                <a:gd name="connsiteY6" fmla="*/ 6400800 h 6858000"/>
                <a:gd name="connsiteX7" fmla="*/ 10760927 w 11430000"/>
                <a:gd name="connsiteY7" fmla="*/ 640080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5675970"/>
                  </a:lnTo>
                  <a:lnTo>
                    <a:pt x="11309193" y="5675970"/>
                  </a:lnTo>
                  <a:cubicBezTo>
                    <a:pt x="11375913" y="5675970"/>
                    <a:pt x="11430000" y="5730057"/>
                    <a:pt x="11430000" y="5796777"/>
                  </a:cubicBezTo>
                  <a:lnTo>
                    <a:pt x="11430000" y="6279993"/>
                  </a:lnTo>
                  <a:cubicBezTo>
                    <a:pt x="11430000" y="6346713"/>
                    <a:pt x="11375913" y="6400800"/>
                    <a:pt x="11309193" y="6400800"/>
                  </a:cubicBezTo>
                  <a:lnTo>
                    <a:pt x="10760927" y="640080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D067AC-BA64-3DEF-DFD1-BA196C12EE77}"/>
                </a:ext>
              </a:extLst>
            </p:cNvPr>
            <p:cNvSpPr txBox="1"/>
            <p:nvPr/>
          </p:nvSpPr>
          <p:spPr>
            <a:xfrm>
              <a:off x="10805531" y="572057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3B30FF-5F3F-79A7-5061-532E9EDCA61F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Retrieve supplies and their current stock level for each location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3AB354-05A3-6CD8-3D73-D8EDCC5335C8}"/>
                </a:ext>
              </a:extLst>
            </p:cNvPr>
            <p:cNvSpPr txBox="1"/>
            <p:nvPr/>
          </p:nvSpPr>
          <p:spPr>
            <a:xfrm>
              <a:off x="864218" y="1330090"/>
              <a:ext cx="10878016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"Location", 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"Supply",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st.quantity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Stock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st.supply_id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F0440BC-3409-82E1-A550-FF8688A75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24810" y="3248644"/>
              <a:ext cx="5590517" cy="3383573"/>
            </a:xfrm>
            <a:prstGeom prst="rect">
              <a:avLst/>
            </a:prstGeom>
            <a:effectLst>
              <a:outerShdw blurRad="1130300" dist="50800" dir="5400000" algn="ctr" rotWithShape="0">
                <a:srgbClr val="000000">
                  <a:alpha val="43137"/>
                </a:srgb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D3B6E0-57E6-63CA-0C6C-3946A0F8563A}"/>
              </a:ext>
            </a:extLst>
          </p:cNvPr>
          <p:cNvGrpSpPr/>
          <p:nvPr/>
        </p:nvGrpSpPr>
        <p:grpSpPr>
          <a:xfrm>
            <a:off x="426825" y="0"/>
            <a:ext cx="12054468" cy="6858000"/>
            <a:chOff x="0" y="-55894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39D2CF-1A0C-1E71-FD48-317384CB5185}"/>
                </a:ext>
              </a:extLst>
            </p:cNvPr>
            <p:cNvSpPr/>
            <p:nvPr/>
          </p:nvSpPr>
          <p:spPr>
            <a:xfrm>
              <a:off x="0" y="-55894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371276 h 6858000"/>
                <a:gd name="connsiteX3" fmla="*/ 11309193 w 11430000"/>
                <a:gd name="connsiteY3" fmla="*/ 4371276 h 6858000"/>
                <a:gd name="connsiteX4" fmla="*/ 11430000 w 11430000"/>
                <a:gd name="connsiteY4" fmla="*/ 4492083 h 6858000"/>
                <a:gd name="connsiteX5" fmla="*/ 11430000 w 11430000"/>
                <a:gd name="connsiteY5" fmla="*/ 4975299 h 6858000"/>
                <a:gd name="connsiteX6" fmla="*/ 11309193 w 11430000"/>
                <a:gd name="connsiteY6" fmla="*/ 5096106 h 6858000"/>
                <a:gd name="connsiteX7" fmla="*/ 10760927 w 11430000"/>
                <a:gd name="connsiteY7" fmla="*/ 5096106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371276"/>
                  </a:lnTo>
                  <a:lnTo>
                    <a:pt x="11309193" y="4371276"/>
                  </a:lnTo>
                  <a:cubicBezTo>
                    <a:pt x="11375913" y="4371276"/>
                    <a:pt x="11430000" y="4425363"/>
                    <a:pt x="11430000" y="4492083"/>
                  </a:cubicBezTo>
                  <a:lnTo>
                    <a:pt x="11430000" y="4975299"/>
                  </a:lnTo>
                  <a:cubicBezTo>
                    <a:pt x="11430000" y="5042019"/>
                    <a:pt x="11375913" y="5096106"/>
                    <a:pt x="11309193" y="5096106"/>
                  </a:cubicBezTo>
                  <a:lnTo>
                    <a:pt x="10760927" y="5096106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06F224-F2E3-7D82-DDF4-7BFC4A0F29B5}"/>
                </a:ext>
              </a:extLst>
            </p:cNvPr>
            <p:cNvSpPr txBox="1"/>
            <p:nvPr/>
          </p:nvSpPr>
          <p:spPr>
            <a:xfrm>
              <a:off x="10805531" y="4404731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3B87AD-6004-C5BE-9728-020D0A7FF173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Regions With Highest Emergency Distributions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B72FD8-25A9-92AD-B13F-0B333818974C}"/>
                </a:ext>
              </a:extLst>
            </p:cNvPr>
            <p:cNvSpPr txBox="1"/>
            <p:nvPr/>
          </p:nvSpPr>
          <p:spPr>
            <a:xfrm>
              <a:off x="620769" y="1170040"/>
              <a:ext cx="10710748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,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GROUP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F807A8B-FE16-558A-3A53-F83EDB1DC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5317" y="3706777"/>
              <a:ext cx="4039111" cy="2905896"/>
            </a:xfrm>
            <a:prstGeom prst="rect">
              <a:avLst/>
            </a:prstGeom>
            <a:effectLst>
              <a:outerShdw blurRad="520700" dist="50800" dir="5400000" algn="ctr" rotWithShape="0">
                <a:srgbClr val="000000"/>
              </a:outerShdw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BB17A60-86F7-87EF-9015-357AEE87D1B3}"/>
              </a:ext>
            </a:extLst>
          </p:cNvPr>
          <p:cNvGrpSpPr/>
          <p:nvPr/>
        </p:nvGrpSpPr>
        <p:grpSpPr>
          <a:xfrm>
            <a:off x="315524" y="2735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DA6AB0C-32F2-7F6C-9E8F-5DD497DF00C8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3066584 h 6858000"/>
                <a:gd name="connsiteX3" fmla="*/ 11309193 w 11430000"/>
                <a:gd name="connsiteY3" fmla="*/ 3066584 h 6858000"/>
                <a:gd name="connsiteX4" fmla="*/ 11430000 w 11430000"/>
                <a:gd name="connsiteY4" fmla="*/ 3187391 h 6858000"/>
                <a:gd name="connsiteX5" fmla="*/ 11430000 w 11430000"/>
                <a:gd name="connsiteY5" fmla="*/ 3670607 h 6858000"/>
                <a:gd name="connsiteX6" fmla="*/ 11309193 w 11430000"/>
                <a:gd name="connsiteY6" fmla="*/ 3791414 h 6858000"/>
                <a:gd name="connsiteX7" fmla="*/ 10760927 w 11430000"/>
                <a:gd name="connsiteY7" fmla="*/ 3791414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3066584"/>
                  </a:lnTo>
                  <a:lnTo>
                    <a:pt x="11309193" y="3066584"/>
                  </a:lnTo>
                  <a:cubicBezTo>
                    <a:pt x="11375913" y="3066584"/>
                    <a:pt x="11430000" y="3120671"/>
                    <a:pt x="11430000" y="3187391"/>
                  </a:cubicBezTo>
                  <a:lnTo>
                    <a:pt x="11430000" y="3670607"/>
                  </a:lnTo>
                  <a:cubicBezTo>
                    <a:pt x="11430000" y="3737327"/>
                    <a:pt x="11375913" y="3791414"/>
                    <a:pt x="11309193" y="3791414"/>
                  </a:cubicBezTo>
                  <a:lnTo>
                    <a:pt x="10760927" y="3791414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37C36E-826C-B695-F403-1DB744312F72}"/>
                </a:ext>
              </a:extLst>
            </p:cNvPr>
            <p:cNvSpPr txBox="1"/>
            <p:nvPr/>
          </p:nvSpPr>
          <p:spPr>
            <a:xfrm>
              <a:off x="10805531" y="3105834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F6CA865-C2C4-CC4A-3673-A5D1535BEFBD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Find Supplies That Are Below the Average Reorder Level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B509FA-A746-6D84-B9B4-FE0593A5EA28}"/>
                </a:ext>
              </a:extLst>
            </p:cNvPr>
            <p:cNvSpPr txBox="1"/>
            <p:nvPr/>
          </p:nvSpPr>
          <p:spPr>
            <a:xfrm>
              <a:off x="1031486" y="1360876"/>
              <a:ext cx="1071074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endParaRPr lang="en-US" sz="2400" dirty="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WHERE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	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(SELECT AVG(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Supplies);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8F92C2B-EDE0-D569-C619-9DFFACFA1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57309" y="3595585"/>
              <a:ext cx="3859102" cy="2847079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76B0439-AF27-4F31-EEC1-C4E671CA1923}"/>
              </a:ext>
            </a:extLst>
          </p:cNvPr>
          <p:cNvGrpSpPr/>
          <p:nvPr/>
        </p:nvGrpSpPr>
        <p:grpSpPr>
          <a:xfrm>
            <a:off x="134242" y="547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F9A1E7E-7AD3-F0F4-E031-D9B2010C425A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1761892 h 6858000"/>
                <a:gd name="connsiteX3" fmla="*/ 11309193 w 11430000"/>
                <a:gd name="connsiteY3" fmla="*/ 1761892 h 6858000"/>
                <a:gd name="connsiteX4" fmla="*/ 11430000 w 11430000"/>
                <a:gd name="connsiteY4" fmla="*/ 1882699 h 6858000"/>
                <a:gd name="connsiteX5" fmla="*/ 11430000 w 11430000"/>
                <a:gd name="connsiteY5" fmla="*/ 2365915 h 6858000"/>
                <a:gd name="connsiteX6" fmla="*/ 11309193 w 11430000"/>
                <a:gd name="connsiteY6" fmla="*/ 2486722 h 6858000"/>
                <a:gd name="connsiteX7" fmla="*/ 10760927 w 11430000"/>
                <a:gd name="connsiteY7" fmla="*/ 2486722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1761892"/>
                  </a:lnTo>
                  <a:lnTo>
                    <a:pt x="11309193" y="1761892"/>
                  </a:lnTo>
                  <a:cubicBezTo>
                    <a:pt x="11375913" y="1761892"/>
                    <a:pt x="11430000" y="1815979"/>
                    <a:pt x="11430000" y="1882699"/>
                  </a:cubicBezTo>
                  <a:lnTo>
                    <a:pt x="11430000" y="2365915"/>
                  </a:lnTo>
                  <a:cubicBezTo>
                    <a:pt x="11430000" y="2432635"/>
                    <a:pt x="11375913" y="2486722"/>
                    <a:pt x="11309193" y="2486722"/>
                  </a:cubicBezTo>
                  <a:lnTo>
                    <a:pt x="10760927" y="2486722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DA2E295-E1D6-EF98-55E1-DA1C17C93CDF}"/>
                </a:ext>
              </a:extLst>
            </p:cNvPr>
            <p:cNvSpPr txBox="1"/>
            <p:nvPr/>
          </p:nvSpPr>
          <p:spPr>
            <a:xfrm>
              <a:off x="10805530" y="1817648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BFE2915-06F4-685C-0989-CBB94C7C09DB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Calculate Total Supplies Dispatched per Event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131E3C-06D6-BC62-7D53-3BF7C1ABB2D0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      FROM   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Emergency_Events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INNER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 JOIN</a:t>
              </a:r>
            </a:p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       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ee.event_id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ed.event_id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         GROUP BY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ORDER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 BY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916CEF7-1EEE-ADA0-4D34-122B96E78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89665" y="3216897"/>
              <a:ext cx="4572396" cy="3493311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30C1BDF-F5A2-1E94-4859-BD8428E9EDE3}"/>
              </a:ext>
            </a:extLst>
          </p:cNvPr>
          <p:cNvGrpSpPr/>
          <p:nvPr/>
        </p:nvGrpSpPr>
        <p:grpSpPr>
          <a:xfrm>
            <a:off x="-10650487" y="547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CF75F1B-6305-CCD3-CA55-093F07AF8100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57200 h 6858000"/>
                <a:gd name="connsiteX3" fmla="*/ 11309193 w 11430000"/>
                <a:gd name="connsiteY3" fmla="*/ 457200 h 6858000"/>
                <a:gd name="connsiteX4" fmla="*/ 11430000 w 11430000"/>
                <a:gd name="connsiteY4" fmla="*/ 578007 h 6858000"/>
                <a:gd name="connsiteX5" fmla="*/ 11430000 w 11430000"/>
                <a:gd name="connsiteY5" fmla="*/ 1061223 h 6858000"/>
                <a:gd name="connsiteX6" fmla="*/ 11309193 w 11430000"/>
                <a:gd name="connsiteY6" fmla="*/ 1182030 h 6858000"/>
                <a:gd name="connsiteX7" fmla="*/ 10760927 w 11430000"/>
                <a:gd name="connsiteY7" fmla="*/ 118203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57200"/>
                  </a:lnTo>
                  <a:lnTo>
                    <a:pt x="11309193" y="457200"/>
                  </a:lnTo>
                  <a:cubicBezTo>
                    <a:pt x="11375913" y="457200"/>
                    <a:pt x="11430000" y="511287"/>
                    <a:pt x="11430000" y="578007"/>
                  </a:cubicBezTo>
                  <a:lnTo>
                    <a:pt x="11430000" y="1061223"/>
                  </a:lnTo>
                  <a:cubicBezTo>
                    <a:pt x="11430000" y="1127943"/>
                    <a:pt x="11375913" y="1182030"/>
                    <a:pt x="11309193" y="1182030"/>
                  </a:cubicBezTo>
                  <a:lnTo>
                    <a:pt x="10760927" y="118203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89B1BF1-DA32-26FC-D445-950A1154E3FE}"/>
                </a:ext>
              </a:extLst>
            </p:cNvPr>
            <p:cNvSpPr txBox="1"/>
            <p:nvPr/>
          </p:nvSpPr>
          <p:spPr>
            <a:xfrm>
              <a:off x="10805530" y="51295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397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E7D9FFE-77E3-7EDC-76C7-B4A77C34E95F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Find the Total Quantity of Each Supply Dispatched Across All Events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23538BD-DA69-922F-CA59-7B74BA5B4DB6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Supply_Name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Join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	     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ed.supply_id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        GROUP BY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 BY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9F8190D-D87C-11D1-D4D4-D09410B46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03702" y="3763440"/>
              <a:ext cx="4984595" cy="2614177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6EDFC4B-8BC3-F40B-AD03-B928245272E5}"/>
              </a:ext>
            </a:extLst>
          </p:cNvPr>
          <p:cNvSpPr txBox="1"/>
          <p:nvPr/>
        </p:nvSpPr>
        <p:spPr>
          <a:xfrm>
            <a:off x="14233918" y="1092783"/>
            <a:ext cx="88932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Queries</a:t>
            </a:r>
            <a:r>
              <a:rPr lang="en-US" sz="1100" dirty="0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9EFE16-3AE3-3A97-F48A-DCB2B9662678}"/>
              </a:ext>
            </a:extLst>
          </p:cNvPr>
          <p:cNvSpPr txBox="1"/>
          <p:nvPr/>
        </p:nvSpPr>
        <p:spPr>
          <a:xfrm>
            <a:off x="13588302" y="3579467"/>
            <a:ext cx="1143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That represents the importance of this system  </a:t>
            </a:r>
          </a:p>
        </p:txBody>
      </p:sp>
    </p:spTree>
    <p:extLst>
      <p:ext uri="{BB962C8B-B14F-4D97-AF65-F5344CB8AC3E}">
        <p14:creationId xmlns:p14="http://schemas.microsoft.com/office/powerpoint/2010/main" val="2602613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D692A1-6368-1FB5-AC52-F9F6C98A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3232ABD-EDA1-DF6F-E55C-F296E187FB7E}"/>
              </a:ext>
            </a:extLst>
          </p:cNvPr>
          <p:cNvGrpSpPr/>
          <p:nvPr/>
        </p:nvGrpSpPr>
        <p:grpSpPr>
          <a:xfrm>
            <a:off x="539763" y="0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4CA66EC-C6DD-6253-221B-677C83E984AB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5675970 h 6858000"/>
                <a:gd name="connsiteX3" fmla="*/ 11309193 w 11430000"/>
                <a:gd name="connsiteY3" fmla="*/ 5675970 h 6858000"/>
                <a:gd name="connsiteX4" fmla="*/ 11430000 w 11430000"/>
                <a:gd name="connsiteY4" fmla="*/ 5796777 h 6858000"/>
                <a:gd name="connsiteX5" fmla="*/ 11430000 w 11430000"/>
                <a:gd name="connsiteY5" fmla="*/ 6279993 h 6858000"/>
                <a:gd name="connsiteX6" fmla="*/ 11309193 w 11430000"/>
                <a:gd name="connsiteY6" fmla="*/ 6400800 h 6858000"/>
                <a:gd name="connsiteX7" fmla="*/ 10760927 w 11430000"/>
                <a:gd name="connsiteY7" fmla="*/ 640080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5675970"/>
                  </a:lnTo>
                  <a:lnTo>
                    <a:pt x="11309193" y="5675970"/>
                  </a:lnTo>
                  <a:cubicBezTo>
                    <a:pt x="11375913" y="5675970"/>
                    <a:pt x="11430000" y="5730057"/>
                    <a:pt x="11430000" y="5796777"/>
                  </a:cubicBezTo>
                  <a:lnTo>
                    <a:pt x="11430000" y="6279993"/>
                  </a:lnTo>
                  <a:cubicBezTo>
                    <a:pt x="11430000" y="6346713"/>
                    <a:pt x="11375913" y="6400800"/>
                    <a:pt x="11309193" y="6400800"/>
                  </a:cubicBezTo>
                  <a:lnTo>
                    <a:pt x="10760927" y="640080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F7AA24-91D9-5C5C-ED8E-33579FA67959}"/>
                </a:ext>
              </a:extLst>
            </p:cNvPr>
            <p:cNvSpPr txBox="1"/>
            <p:nvPr/>
          </p:nvSpPr>
          <p:spPr>
            <a:xfrm>
              <a:off x="10805531" y="572057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166732-132B-3E1D-D2ED-14F33EB43101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Retrieve supplies and their current stock level for each location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6C2117-F63D-75A3-426B-DCD87523764D}"/>
                </a:ext>
              </a:extLst>
            </p:cNvPr>
            <p:cNvSpPr txBox="1"/>
            <p:nvPr/>
          </p:nvSpPr>
          <p:spPr>
            <a:xfrm>
              <a:off x="864218" y="1330090"/>
              <a:ext cx="10878016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"Location", s.name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"Supply",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st.quantity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Stock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st.supply_id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353E9EF-1ADD-2985-B1B0-C4D42437A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24810" y="3248644"/>
              <a:ext cx="5590517" cy="3383573"/>
            </a:xfrm>
            <a:prstGeom prst="rect">
              <a:avLst/>
            </a:prstGeom>
            <a:effectLst>
              <a:outerShdw blurRad="1130300" dist="50800" dir="5400000" algn="ctr" rotWithShape="0">
                <a:srgbClr val="000000">
                  <a:alpha val="43137"/>
                </a:srgbClr>
              </a:outerShdw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DDB7E5-8328-3E6D-C9FC-79C04134E08D}"/>
              </a:ext>
            </a:extLst>
          </p:cNvPr>
          <p:cNvGrpSpPr/>
          <p:nvPr/>
        </p:nvGrpSpPr>
        <p:grpSpPr>
          <a:xfrm>
            <a:off x="426825" y="0"/>
            <a:ext cx="12054468" cy="6858000"/>
            <a:chOff x="0" y="-55894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A625B5B-9B83-1BD5-D5E2-138F9E35B05C}"/>
                </a:ext>
              </a:extLst>
            </p:cNvPr>
            <p:cNvSpPr/>
            <p:nvPr/>
          </p:nvSpPr>
          <p:spPr>
            <a:xfrm>
              <a:off x="0" y="-55894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371276 h 6858000"/>
                <a:gd name="connsiteX3" fmla="*/ 11309193 w 11430000"/>
                <a:gd name="connsiteY3" fmla="*/ 4371276 h 6858000"/>
                <a:gd name="connsiteX4" fmla="*/ 11430000 w 11430000"/>
                <a:gd name="connsiteY4" fmla="*/ 4492083 h 6858000"/>
                <a:gd name="connsiteX5" fmla="*/ 11430000 w 11430000"/>
                <a:gd name="connsiteY5" fmla="*/ 4975299 h 6858000"/>
                <a:gd name="connsiteX6" fmla="*/ 11309193 w 11430000"/>
                <a:gd name="connsiteY6" fmla="*/ 5096106 h 6858000"/>
                <a:gd name="connsiteX7" fmla="*/ 10760927 w 11430000"/>
                <a:gd name="connsiteY7" fmla="*/ 5096106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371276"/>
                  </a:lnTo>
                  <a:lnTo>
                    <a:pt x="11309193" y="4371276"/>
                  </a:lnTo>
                  <a:cubicBezTo>
                    <a:pt x="11375913" y="4371276"/>
                    <a:pt x="11430000" y="4425363"/>
                    <a:pt x="11430000" y="4492083"/>
                  </a:cubicBezTo>
                  <a:lnTo>
                    <a:pt x="11430000" y="4975299"/>
                  </a:lnTo>
                  <a:cubicBezTo>
                    <a:pt x="11430000" y="5042019"/>
                    <a:pt x="11375913" y="5096106"/>
                    <a:pt x="11309193" y="5096106"/>
                  </a:cubicBezTo>
                  <a:lnTo>
                    <a:pt x="10760927" y="5096106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ABEC8CF-77AE-4387-3FE8-5F8A2AE39422}"/>
                </a:ext>
              </a:extLst>
            </p:cNvPr>
            <p:cNvSpPr txBox="1"/>
            <p:nvPr/>
          </p:nvSpPr>
          <p:spPr>
            <a:xfrm>
              <a:off x="10805531" y="4404731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9461D1-572F-34C2-3C52-CC991112E19B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Regions With Highest Emergency Distributions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ADFEF13-EFF0-69C2-D50A-19B337D40840}"/>
                </a:ext>
              </a:extLst>
            </p:cNvPr>
            <p:cNvSpPr txBox="1"/>
            <p:nvPr/>
          </p:nvSpPr>
          <p:spPr>
            <a:xfrm>
              <a:off x="620769" y="1170040"/>
              <a:ext cx="10710748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,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JOIN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Locations l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ed.location_id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l.location_id</a:t>
              </a:r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		GROUP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l.region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 BY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DCA8B05-D254-D299-26A9-2FB0CF588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5317" y="3706777"/>
              <a:ext cx="4039111" cy="2905896"/>
            </a:xfrm>
            <a:prstGeom prst="rect">
              <a:avLst/>
            </a:prstGeom>
            <a:effectLst>
              <a:outerShdw blurRad="520700" dist="50800" dir="5400000" algn="ctr" rotWithShape="0">
                <a:srgbClr val="000000"/>
              </a:outerShdw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2ECDF1-F932-5B2B-DBD9-DA08EDB5545E}"/>
              </a:ext>
            </a:extLst>
          </p:cNvPr>
          <p:cNvGrpSpPr/>
          <p:nvPr/>
        </p:nvGrpSpPr>
        <p:grpSpPr>
          <a:xfrm>
            <a:off x="315524" y="2735"/>
            <a:ext cx="12054468" cy="6858000"/>
            <a:chOff x="0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BD68119-EEB5-1C6F-0A19-E5296D71033C}"/>
                </a:ext>
              </a:extLst>
            </p:cNvPr>
            <p:cNvSpPr/>
            <p:nvPr/>
          </p:nvSpPr>
          <p:spPr>
            <a:xfrm>
              <a:off x="0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3066584 h 6858000"/>
                <a:gd name="connsiteX3" fmla="*/ 11309193 w 11430000"/>
                <a:gd name="connsiteY3" fmla="*/ 3066584 h 6858000"/>
                <a:gd name="connsiteX4" fmla="*/ 11430000 w 11430000"/>
                <a:gd name="connsiteY4" fmla="*/ 3187391 h 6858000"/>
                <a:gd name="connsiteX5" fmla="*/ 11430000 w 11430000"/>
                <a:gd name="connsiteY5" fmla="*/ 3670607 h 6858000"/>
                <a:gd name="connsiteX6" fmla="*/ 11309193 w 11430000"/>
                <a:gd name="connsiteY6" fmla="*/ 3791414 h 6858000"/>
                <a:gd name="connsiteX7" fmla="*/ 10760927 w 11430000"/>
                <a:gd name="connsiteY7" fmla="*/ 3791414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3066584"/>
                  </a:lnTo>
                  <a:lnTo>
                    <a:pt x="11309193" y="3066584"/>
                  </a:lnTo>
                  <a:cubicBezTo>
                    <a:pt x="11375913" y="3066584"/>
                    <a:pt x="11430000" y="3120671"/>
                    <a:pt x="11430000" y="3187391"/>
                  </a:cubicBezTo>
                  <a:lnTo>
                    <a:pt x="11430000" y="3670607"/>
                  </a:lnTo>
                  <a:cubicBezTo>
                    <a:pt x="11430000" y="3737327"/>
                    <a:pt x="11375913" y="3791414"/>
                    <a:pt x="11309193" y="3791414"/>
                  </a:cubicBezTo>
                  <a:lnTo>
                    <a:pt x="10760927" y="3791414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3F77A1-86DB-88F5-2599-BC01976E1971}"/>
                </a:ext>
              </a:extLst>
            </p:cNvPr>
            <p:cNvSpPr txBox="1"/>
            <p:nvPr/>
          </p:nvSpPr>
          <p:spPr>
            <a:xfrm>
              <a:off x="10805531" y="3105834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FEBE12-46BE-11EE-6750-F753C54D3C05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Find Supplies That Are Below the Average Reorder Level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8FEFE8-9862-7816-AA33-EC73121D29E1}"/>
                </a:ext>
              </a:extLst>
            </p:cNvPr>
            <p:cNvSpPr txBox="1"/>
            <p:nvPr/>
          </p:nvSpPr>
          <p:spPr>
            <a:xfrm>
              <a:off x="1031486" y="1360876"/>
              <a:ext cx="1071074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endParaRPr lang="en-US" sz="2400" dirty="0">
                <a:solidFill>
                  <a:schemeClr val="bg1">
                    <a:lumMod val="95000"/>
                  </a:schemeClr>
                </a:solidFill>
                <a:latin typeface="Bodoni MT Black" panose="02070A03080606020203" pitchFamily="18" charset="0"/>
              </a:endParaRP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name,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	WHERE </a:t>
              </a:r>
            </a:p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	   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(SELECT AVG(</a:t>
              </a:r>
              <a:r>
                <a:rPr lang="en-US" sz="2000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reorder_level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FROM </a:t>
              </a: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Supplies);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19AC6A3-C5C0-A1C9-3448-7764B62FA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57309" y="3595585"/>
              <a:ext cx="3859102" cy="2847079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2B3071-C881-E0DB-D3D7-FC9D41F79281}"/>
              </a:ext>
            </a:extLst>
          </p:cNvPr>
          <p:cNvGrpSpPr/>
          <p:nvPr/>
        </p:nvGrpSpPr>
        <p:grpSpPr>
          <a:xfrm>
            <a:off x="134242" y="547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6D5505F-BE68-D9D8-5750-9A466E81B098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1761892 h 6858000"/>
                <a:gd name="connsiteX3" fmla="*/ 11309193 w 11430000"/>
                <a:gd name="connsiteY3" fmla="*/ 1761892 h 6858000"/>
                <a:gd name="connsiteX4" fmla="*/ 11430000 w 11430000"/>
                <a:gd name="connsiteY4" fmla="*/ 1882699 h 6858000"/>
                <a:gd name="connsiteX5" fmla="*/ 11430000 w 11430000"/>
                <a:gd name="connsiteY5" fmla="*/ 2365915 h 6858000"/>
                <a:gd name="connsiteX6" fmla="*/ 11309193 w 11430000"/>
                <a:gd name="connsiteY6" fmla="*/ 2486722 h 6858000"/>
                <a:gd name="connsiteX7" fmla="*/ 10760927 w 11430000"/>
                <a:gd name="connsiteY7" fmla="*/ 2486722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1761892"/>
                  </a:lnTo>
                  <a:lnTo>
                    <a:pt x="11309193" y="1761892"/>
                  </a:lnTo>
                  <a:cubicBezTo>
                    <a:pt x="11375913" y="1761892"/>
                    <a:pt x="11430000" y="1815979"/>
                    <a:pt x="11430000" y="1882699"/>
                  </a:cubicBezTo>
                  <a:lnTo>
                    <a:pt x="11430000" y="2365915"/>
                  </a:lnTo>
                  <a:cubicBezTo>
                    <a:pt x="11430000" y="2432635"/>
                    <a:pt x="11375913" y="2486722"/>
                    <a:pt x="11309193" y="2486722"/>
                  </a:cubicBezTo>
                  <a:lnTo>
                    <a:pt x="10760927" y="2486722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6B05E5-EC5C-341B-DBA7-320EEB4232E9}"/>
                </a:ext>
              </a:extLst>
            </p:cNvPr>
            <p:cNvSpPr txBox="1"/>
            <p:nvPr/>
          </p:nvSpPr>
          <p:spPr>
            <a:xfrm>
              <a:off x="10805530" y="1817648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270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3F3E193-FF8C-C455-5D3D-53C8890597F2}"/>
                </a:ext>
              </a:extLst>
            </p:cNvPr>
            <p:cNvSpPr txBox="1"/>
            <p:nvPr/>
          </p:nvSpPr>
          <p:spPr>
            <a:xfrm>
              <a:off x="864218" y="480383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Calculate Total Supplies Dispatched per Event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8EE36B7-25E8-BDAB-CCF1-62751462342F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>
                      <a:lumMod val="9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FROM   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Emergency_Events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INNER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JOIN</a:t>
              </a: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 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ee.event_id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ed.event_id</a:t>
              </a:r>
              <a:endPara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        GROUP BY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ORDER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 BY </a:t>
              </a:r>
              <a:r>
                <a:rPr lang="en-US" dirty="0" err="1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Arial Black" panose="020B0A04020102020204" pitchFamily="34" charset="0"/>
                </a:rPr>
                <a:t>DESC;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77457B1-43E0-0A50-785C-BA5F8DE22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89665" y="3216897"/>
              <a:ext cx="4572396" cy="3493311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2AB91D7-1BBD-EB94-D660-A19637C0EED0}"/>
              </a:ext>
            </a:extLst>
          </p:cNvPr>
          <p:cNvGrpSpPr/>
          <p:nvPr/>
        </p:nvGrpSpPr>
        <p:grpSpPr>
          <a:xfrm>
            <a:off x="0" y="-5470"/>
            <a:ext cx="12054468" cy="6858000"/>
            <a:chOff x="-1" y="0"/>
            <a:chExt cx="12054468" cy="6858000"/>
          </a:xfrm>
          <a:effectLst>
            <a:outerShdw blurRad="50800" dist="76200" algn="l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8C68DA6-745A-59AC-7EAE-D12D46E617D8}"/>
                </a:ext>
              </a:extLst>
            </p:cNvPr>
            <p:cNvSpPr/>
            <p:nvPr/>
          </p:nvSpPr>
          <p:spPr>
            <a:xfrm>
              <a:off x="-1" y="0"/>
              <a:ext cx="11430000" cy="6858000"/>
            </a:xfrm>
            <a:custGeom>
              <a:avLst/>
              <a:gdLst>
                <a:gd name="connsiteX0" fmla="*/ 0 w 11430000"/>
                <a:gd name="connsiteY0" fmla="*/ 0 h 6858000"/>
                <a:gd name="connsiteX1" fmla="*/ 10760927 w 11430000"/>
                <a:gd name="connsiteY1" fmla="*/ 0 h 6858000"/>
                <a:gd name="connsiteX2" fmla="*/ 10760927 w 11430000"/>
                <a:gd name="connsiteY2" fmla="*/ 457200 h 6858000"/>
                <a:gd name="connsiteX3" fmla="*/ 11309193 w 11430000"/>
                <a:gd name="connsiteY3" fmla="*/ 457200 h 6858000"/>
                <a:gd name="connsiteX4" fmla="*/ 11430000 w 11430000"/>
                <a:gd name="connsiteY4" fmla="*/ 578007 h 6858000"/>
                <a:gd name="connsiteX5" fmla="*/ 11430000 w 11430000"/>
                <a:gd name="connsiteY5" fmla="*/ 1061223 h 6858000"/>
                <a:gd name="connsiteX6" fmla="*/ 11309193 w 11430000"/>
                <a:gd name="connsiteY6" fmla="*/ 1182030 h 6858000"/>
                <a:gd name="connsiteX7" fmla="*/ 10760927 w 11430000"/>
                <a:gd name="connsiteY7" fmla="*/ 1182030 h 6858000"/>
                <a:gd name="connsiteX8" fmla="*/ 10760927 w 11430000"/>
                <a:gd name="connsiteY8" fmla="*/ 6858000 h 6858000"/>
                <a:gd name="connsiteX9" fmla="*/ 0 w 11430000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00" h="6858000">
                  <a:moveTo>
                    <a:pt x="0" y="0"/>
                  </a:moveTo>
                  <a:lnTo>
                    <a:pt x="10760927" y="0"/>
                  </a:lnTo>
                  <a:lnTo>
                    <a:pt x="10760927" y="457200"/>
                  </a:lnTo>
                  <a:lnTo>
                    <a:pt x="11309193" y="457200"/>
                  </a:lnTo>
                  <a:cubicBezTo>
                    <a:pt x="11375913" y="457200"/>
                    <a:pt x="11430000" y="511287"/>
                    <a:pt x="11430000" y="578007"/>
                  </a:cubicBezTo>
                  <a:lnTo>
                    <a:pt x="11430000" y="1061223"/>
                  </a:lnTo>
                  <a:cubicBezTo>
                    <a:pt x="11430000" y="1127943"/>
                    <a:pt x="11375913" y="1182030"/>
                    <a:pt x="11309193" y="1182030"/>
                  </a:cubicBezTo>
                  <a:lnTo>
                    <a:pt x="10760927" y="1182030"/>
                  </a:lnTo>
                  <a:lnTo>
                    <a:pt x="1076092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DCF1DE-CAD0-D2D0-CD86-3C83EA51AA73}"/>
                </a:ext>
              </a:extLst>
            </p:cNvPr>
            <p:cNvSpPr txBox="1"/>
            <p:nvPr/>
          </p:nvSpPr>
          <p:spPr>
            <a:xfrm>
              <a:off x="10805530" y="512955"/>
              <a:ext cx="1248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50000"/>
                    </a:schemeClr>
                  </a:solidFill>
                  <a:effectLst>
                    <a:innerShdw blurRad="63500" dist="1397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D941743-3100-EE19-6BEB-859CF96A2491}"/>
                </a:ext>
              </a:extLst>
            </p:cNvPr>
            <p:cNvSpPr txBox="1"/>
            <p:nvPr/>
          </p:nvSpPr>
          <p:spPr>
            <a:xfrm>
              <a:off x="598231" y="50201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Find the Total Quantity of Each Supply Dispatched Across All Events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D38927-9DFE-7199-1D17-7CE08A335F4C}"/>
                </a:ext>
              </a:extLst>
            </p:cNvPr>
            <p:cNvSpPr txBox="1"/>
            <p:nvPr/>
          </p:nvSpPr>
          <p:spPr>
            <a:xfrm>
              <a:off x="1031486" y="1185124"/>
              <a:ext cx="1071074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2">
                      <a:lumMod val="25000"/>
                    </a:schemeClr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SELECT  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Supply_Name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    SUM(</a:t>
              </a:r>
              <a:r>
                <a:rPr lang="en-US" sz="200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ed.quantity_dispatched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) AS </a:t>
              </a:r>
              <a:r>
                <a:rPr lang="en-US" sz="200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endParaRPr lang="en-US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	FROM 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 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Join </a:t>
              </a:r>
              <a:r>
                <a:rPr lang="en-US" sz="200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</a:p>
            <a:p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	      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ed.supply_id</a:t>
              </a:r>
              <a:endParaRPr lang="en-US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	        GROUP BY 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s.name 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 Black" panose="020B0A04020102020204" pitchFamily="34" charset="0"/>
                </a:rPr>
                <a:t>ORDER BY  </a:t>
              </a:r>
              <a:r>
                <a:rPr lang="en-US" sz="2000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Total_Dispatched</a:t>
              </a:r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164B065-3B43-AF55-E0B3-A1D1AD3D4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03702" y="3763440"/>
              <a:ext cx="4984595" cy="2614177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414903B-2E2A-CDAF-C7F1-BC5DCC4E0A34}"/>
              </a:ext>
            </a:extLst>
          </p:cNvPr>
          <p:cNvSpPr txBox="1"/>
          <p:nvPr/>
        </p:nvSpPr>
        <p:spPr>
          <a:xfrm>
            <a:off x="14233918" y="1092783"/>
            <a:ext cx="88932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Queries</a:t>
            </a:r>
            <a:r>
              <a:rPr lang="en-US" sz="1100" dirty="0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6378D1-B4C1-CA38-BE96-9E1258D7BE3A}"/>
              </a:ext>
            </a:extLst>
          </p:cNvPr>
          <p:cNvSpPr txBox="1"/>
          <p:nvPr/>
        </p:nvSpPr>
        <p:spPr>
          <a:xfrm>
            <a:off x="13588302" y="3579467"/>
            <a:ext cx="1143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That represents the importance of this system  </a:t>
            </a:r>
          </a:p>
        </p:txBody>
      </p:sp>
    </p:spTree>
    <p:extLst>
      <p:ext uri="{BB962C8B-B14F-4D97-AF65-F5344CB8AC3E}">
        <p14:creationId xmlns:p14="http://schemas.microsoft.com/office/powerpoint/2010/main" val="4187286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73044B-73AC-4419-C7EA-0D87748E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04118F4-D686-95B1-2D79-8C2454AB79AB}"/>
              </a:ext>
            </a:extLst>
          </p:cNvPr>
          <p:cNvGrpSpPr/>
          <p:nvPr/>
        </p:nvGrpSpPr>
        <p:grpSpPr>
          <a:xfrm>
            <a:off x="-17390" y="0"/>
            <a:ext cx="12359268" cy="6858000"/>
            <a:chOff x="0" y="0"/>
            <a:chExt cx="12359268" cy="6858000"/>
          </a:xfrm>
          <a:effectLst>
            <a:outerShdw blurRad="63500" dist="114300" dir="24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A4EA7C5-89A7-2162-6BEA-ED3BFD4DF847}"/>
                </a:ext>
              </a:extLst>
            </p:cNvPr>
            <p:cNvSpPr/>
            <p:nvPr/>
          </p:nvSpPr>
          <p:spPr>
            <a:xfrm>
              <a:off x="9979233" y="5853745"/>
              <a:ext cx="1991032" cy="707923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12D2D4-23DE-00A4-E645-944873B7CD06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4C1F17-BDAD-C078-E166-FC2ACEF76D22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Retrieve Emergency Events with Dispatched Supplies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C48903D-5CC1-4369-8BFF-F4F325C28EFC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dirty="0">
                  <a:latin typeface="Arial Black" panose="020B0A04020102020204" pitchFamily="34" charset="0"/>
                </a:rPr>
                <a:t>SELECT 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, s.name </a:t>
              </a:r>
              <a:r>
                <a:rPr lang="en-US" dirty="0">
                  <a:latin typeface="Arial Black" panose="020B0A04020102020204" pitchFamily="34" charset="0"/>
                </a:rPr>
                <a:t>AS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Supply_Name,ed.quantity_dispatched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dirty="0">
                  <a:latin typeface="Arial Black" panose="020B0A04020102020204" pitchFamily="34" charset="0"/>
                  <a:cs typeface="Arial" panose="020B0604020202020204" pitchFamily="34" charset="0"/>
                </a:rPr>
                <a:t>   FROM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Emergency_Events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Arial Black" panose="020B0A04020102020204" pitchFamily="34" charset="0"/>
                </a:rPr>
                <a:t>INNER JOIN </a:t>
              </a:r>
            </a:p>
            <a:p>
              <a:r>
                <a:rPr lang="en-US" dirty="0">
                  <a:latin typeface="Arial Black" panose="020B0A04020102020204" pitchFamily="34" charset="0"/>
                </a:rPr>
                <a:t>   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  <a:r>
                <a:rPr lang="en-US" dirty="0">
                  <a:latin typeface="Arial Black" panose="020B0A04020102020204" pitchFamily="34" charset="0"/>
                </a:rPr>
                <a:t>ON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ee.event_id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ed.event_id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 Black" panose="020B0A04020102020204" pitchFamily="34" charset="0"/>
                </a:rPr>
                <a:t>      INNER JOIN 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Supplies s</a:t>
              </a:r>
              <a:r>
                <a:rPr lang="en-US" dirty="0">
                  <a:latin typeface="Arial Black" panose="020B0A04020102020204" pitchFamily="34" charset="0"/>
                </a:rPr>
                <a:t> ON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ed.supply_id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00889B3-52F2-A009-3367-30B93CD2F08D}"/>
                </a:ext>
              </a:extLst>
            </p:cNvPr>
            <p:cNvSpPr txBox="1"/>
            <p:nvPr/>
          </p:nvSpPr>
          <p:spPr>
            <a:xfrm>
              <a:off x="11385995" y="5915318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6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B4B4F0E-C743-1149-2F7D-BE97F97B6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7622" y="2872189"/>
              <a:ext cx="4604084" cy="3689479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BB81001-3B6A-0FDE-11A4-8D809A397488}"/>
              </a:ext>
            </a:extLst>
          </p:cNvPr>
          <p:cNvGrpSpPr/>
          <p:nvPr/>
        </p:nvGrpSpPr>
        <p:grpSpPr>
          <a:xfrm>
            <a:off x="-11413162" y="-43563"/>
            <a:ext cx="12099568" cy="6858000"/>
            <a:chOff x="0" y="0"/>
            <a:chExt cx="12099568" cy="6858000"/>
          </a:xfrm>
          <a:effectLst>
            <a:outerShdw blurRad="63500" dist="1143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53D2724-C090-1EEA-0924-D32ACE5D8CC8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2BEE31C-2B54-9AF5-5380-CCE26D705FDC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C0C0C0"/>
                  </a:highlight>
                  <a:latin typeface="Arial Black" panose="020B0A04020102020204" pitchFamily="34" charset="0"/>
                </a:rPr>
                <a:t>Retrieve Supplies with the Highest Quantity in Each Category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61FFB9A-106C-3AEF-411F-8B71FBAC5DE7}"/>
                </a:ext>
              </a:extLst>
            </p:cNvPr>
            <p:cNvSpPr txBox="1"/>
            <p:nvPr/>
          </p:nvSpPr>
          <p:spPr>
            <a:xfrm>
              <a:off x="928053" y="1083401"/>
              <a:ext cx="10710748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SELECT  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s1.name </a:t>
              </a:r>
              <a:r>
                <a:rPr lang="en-US" sz="2000" dirty="0"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Supply_Name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s1.category, s1.reorder_level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Supplies s1 </a:t>
              </a:r>
              <a:r>
                <a:rPr lang="en-US" sz="2000" dirty="0">
                  <a:latin typeface="Arial Black" panose="020B0A04020102020204" pitchFamily="34" charset="0"/>
                </a:rPr>
                <a:t>WHERE 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s1.reorder_level = </a:t>
              </a:r>
              <a:r>
                <a:rPr lang="en-US" sz="2000" dirty="0">
                  <a:latin typeface="Arial Black" panose="020B0A04020102020204" pitchFamily="34" charset="0"/>
                </a:rPr>
                <a:t>(SELECT MAX(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s2.reorder_level)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Supplies s2 </a:t>
              </a:r>
              <a:r>
                <a:rPr lang="en-US" sz="2000" dirty="0">
                  <a:latin typeface="Arial Black" panose="020B0A04020102020204" pitchFamily="34" charset="0"/>
                </a:rPr>
                <a:t>WHERE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s2.category = s1.category)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    ORDER BY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s1.category;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D8117128-BB26-2B48-B1AB-AF7640BF97D9}"/>
                </a:ext>
              </a:extLst>
            </p:cNvPr>
            <p:cNvSpPr/>
            <p:nvPr/>
          </p:nvSpPr>
          <p:spPr>
            <a:xfrm>
              <a:off x="9979233" y="4584013"/>
              <a:ext cx="1991032" cy="70792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A0B7FC3-AA5F-1AF7-3C09-C5FA2A4B6AE4}"/>
                </a:ext>
              </a:extLst>
            </p:cNvPr>
            <p:cNvSpPr txBox="1"/>
            <p:nvPr/>
          </p:nvSpPr>
          <p:spPr>
            <a:xfrm>
              <a:off x="11384901" y="4645586"/>
              <a:ext cx="71466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7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18F7E4B-62DC-6572-51CC-220F56934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0791" y="3218752"/>
              <a:ext cx="5432007" cy="3438442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989FDFF-382A-73BE-3A37-B231DE6DB180}"/>
              </a:ext>
            </a:extLst>
          </p:cNvPr>
          <p:cNvGrpSpPr/>
          <p:nvPr/>
        </p:nvGrpSpPr>
        <p:grpSpPr>
          <a:xfrm>
            <a:off x="-11876376" y="-43563"/>
            <a:ext cx="12338824" cy="6858000"/>
            <a:chOff x="0" y="0"/>
            <a:chExt cx="12338824" cy="6858000"/>
          </a:xfrm>
          <a:effectLst>
            <a:outerShdw blurRad="63500" dist="114300" dir="3000000" algn="tl" rotWithShape="0">
              <a:prstClr val="black">
                <a:alpha val="40000"/>
              </a:prstClr>
            </a:outerShdw>
          </a:effectLst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F02D679-1206-8CF0-9120-86D60ABFA943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D52BDA7-1B9D-F2DF-560E-B78B5EF97D47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List Suppliers and Their Average Lead Time for Supplies They Provide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774A89F-0CE0-C5D1-80AD-913A8F410637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sp.name 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Supplier_Name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>
                  <a:latin typeface="Arial Black" panose="020B0A04020102020204" pitchFamily="34" charset="0"/>
                </a:rPr>
                <a:t>AVG(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sp.lead_time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2000" dirty="0"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Average_Lead_Time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latin typeface="Arial Black" panose="020B0A04020102020204" pitchFamily="34" charset="0"/>
                </a:rPr>
                <a:t>  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Suppliers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</a:t>
              </a:r>
              <a:r>
                <a:rPr lang="en-US" sz="2000" dirty="0" err="1">
                  <a:latin typeface="Arial Black" panose="020B0A04020102020204" pitchFamily="34" charset="0"/>
                </a:rPr>
                <a:t>JOIN</a:t>
              </a:r>
              <a:r>
                <a:rPr lang="en-US" sz="2000" dirty="0">
                  <a:latin typeface="Arial Black" panose="020B0A040201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Supply_Orders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so </a:t>
              </a:r>
              <a:r>
                <a:rPr lang="en-US" sz="2000" dirty="0"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sp.supplier_id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so.supplier_id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GROUP BY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sp.name</a:t>
              </a:r>
              <a:r>
                <a:rPr lang="en-US" sz="2000" dirty="0" err="1">
                  <a:latin typeface="Arial Black" panose="020B0A04020102020204" pitchFamily="34" charset="0"/>
                </a:rPr>
                <a:t>ORDER</a:t>
              </a:r>
              <a:r>
                <a:rPr lang="en-US" sz="2000" dirty="0">
                  <a:latin typeface="Arial Black" panose="020B0A04020102020204" pitchFamily="34" charset="0"/>
                </a:rPr>
                <a:t> BY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Average_Lead_Time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latin typeface="Arial Black" panose="020B0A04020102020204" pitchFamily="34" charset="0"/>
                </a:rPr>
                <a:t>ASC;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1580591B-681F-60C9-E2DB-CE9D54A0059D}"/>
                </a:ext>
              </a:extLst>
            </p:cNvPr>
            <p:cNvSpPr/>
            <p:nvPr/>
          </p:nvSpPr>
          <p:spPr>
            <a:xfrm>
              <a:off x="9994521" y="3188891"/>
              <a:ext cx="1991032" cy="70792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EF4275D-BCF4-D515-5849-69B79ABF4135}"/>
                </a:ext>
              </a:extLst>
            </p:cNvPr>
            <p:cNvSpPr txBox="1"/>
            <p:nvPr/>
          </p:nvSpPr>
          <p:spPr>
            <a:xfrm>
              <a:off x="11365551" y="3250464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8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9CFA7CF0-D8E6-BE39-81D0-21E333045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1677" y="2890334"/>
              <a:ext cx="5099777" cy="3850525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BB63E19-7758-B78A-0805-06D0E74735EE}"/>
              </a:ext>
            </a:extLst>
          </p:cNvPr>
          <p:cNvGrpSpPr/>
          <p:nvPr/>
        </p:nvGrpSpPr>
        <p:grpSpPr>
          <a:xfrm>
            <a:off x="-12495254" y="-43563"/>
            <a:ext cx="12350531" cy="6858000"/>
            <a:chOff x="0" y="0"/>
            <a:chExt cx="12350531" cy="6858000"/>
          </a:xfrm>
          <a:effectLst>
            <a:outerShdw blurRad="63500" dist="114300" dir="3000000" algn="tl" rotWithShape="0">
              <a:prstClr val="black">
                <a:alpha val="40000"/>
              </a:prstClr>
            </a:outerShdw>
          </a:effectLst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2C8E646-F84C-F97A-6B71-1606A212833C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rgbClr val="605C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F868323-394A-DE80-2DBF-0BA0B85F7B70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List Locations with Stock Levels Below Critical Thresholds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F03DAC8-2E8C-3DD3-8BF9-78F72329A8FB}"/>
                </a:ext>
              </a:extLst>
            </p:cNvPr>
            <p:cNvSpPr txBox="1"/>
            <p:nvPr/>
          </p:nvSpPr>
          <p:spPr>
            <a:xfrm>
              <a:off x="1274805" y="1038799"/>
              <a:ext cx="10710748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endParaRPr lang="en-US" sz="2800" dirty="0">
                <a:latin typeface="Bodoni MT Black" panose="02070A03080606020203" pitchFamily="18" charset="0"/>
              </a:endParaRPr>
            </a:p>
            <a:p>
              <a:r>
                <a:rPr lang="en-US" sz="2400" dirty="0">
                  <a:latin typeface="Arial Black" panose="020B0A04020102020204" pitchFamily="34" charset="0"/>
                </a:rPr>
                <a:t>SELECT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s.location_id,s.supply_id,s.quantity</a:t>
              </a:r>
              <a:r>
                <a:rPr lang="en-US" sz="2400" dirty="0" err="1">
                  <a:latin typeface="Bodoni MT Black" panose="02070A03080606020203" pitchFamily="18" charset="0"/>
                </a:rPr>
                <a:t>,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sp.reorder_level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sz="2400" dirty="0">
                  <a:latin typeface="Arial Black" panose="020B0A04020102020204" pitchFamily="34" charset="0"/>
                </a:rPr>
                <a:t>FROM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Stock s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>
                  <a:latin typeface="Arial Black" panose="020B0A04020102020204" pitchFamily="34" charset="0"/>
                </a:rPr>
                <a:t>JOIN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Supplies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sz="2400" dirty="0">
                  <a:latin typeface="Arial Black" panose="020B0A04020102020204" pitchFamily="34" charset="0"/>
                </a:rPr>
                <a:t>    ON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sp.supply_id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dirty="0">
                  <a:latin typeface="Arial Black" panose="020B0A04020102020204" pitchFamily="34" charset="0"/>
                </a:rPr>
                <a:t>    WHERE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s.quantity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sp.reorder_level</a:t>
              </a:r>
              <a:r>
                <a:rPr lang="en-US" sz="2400" dirty="0">
                  <a:latin typeface="Bodoni MT Black" panose="02070A03080606020203" pitchFamily="18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4F36F3A-7198-AA92-2D6E-D5F75BB7C714}"/>
                </a:ext>
              </a:extLst>
            </p:cNvPr>
            <p:cNvSpPr/>
            <p:nvPr/>
          </p:nvSpPr>
          <p:spPr>
            <a:xfrm>
              <a:off x="9994521" y="1716628"/>
              <a:ext cx="1991032" cy="707923"/>
            </a:xfrm>
            <a:prstGeom prst="roundRect">
              <a:avLst/>
            </a:prstGeom>
            <a:solidFill>
              <a:srgbClr val="605C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7977621-529E-D5B1-30E5-A8D5B2AC4EBC}"/>
                </a:ext>
              </a:extLst>
            </p:cNvPr>
            <p:cNvSpPr txBox="1"/>
            <p:nvPr/>
          </p:nvSpPr>
          <p:spPr>
            <a:xfrm>
              <a:off x="11377258" y="1749041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9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1B78350F-6A87-9F17-3FEC-F32509B46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72236" y="3927434"/>
              <a:ext cx="5429250" cy="1891767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1EB5E1D-940B-251B-0456-AD16CA36BB7F}"/>
              </a:ext>
            </a:extLst>
          </p:cNvPr>
          <p:cNvGrpSpPr/>
          <p:nvPr/>
        </p:nvGrpSpPr>
        <p:grpSpPr>
          <a:xfrm>
            <a:off x="-12921984" y="-64132"/>
            <a:ext cx="12280610" cy="6858000"/>
            <a:chOff x="-51739" y="0"/>
            <a:chExt cx="12280610" cy="6858000"/>
          </a:xfrm>
          <a:effectLst>
            <a:outerShdw blurRad="63500" dist="114300" dir="3000000" algn="tl" rotWithShape="0">
              <a:schemeClr val="tx1">
                <a:alpha val="40000"/>
              </a:schemeClr>
            </a:outerShdw>
          </a:effectLst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5F0E596-FD6A-B3FB-CC72-AF4FD6E7C004}"/>
                </a:ext>
              </a:extLst>
            </p:cNvPr>
            <p:cNvSpPr/>
            <p:nvPr/>
          </p:nvSpPr>
          <p:spPr>
            <a:xfrm>
              <a:off x="-51739" y="0"/>
              <a:ext cx="11307337" cy="685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4F188EF-798D-D55A-0878-762DC884C99D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Predict Future Supply Needs Based on Past Usage Data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AF1290-34A7-5070-A302-F18EC4ED7387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endParaRPr lang="en-US" sz="1200" dirty="0">
                <a:solidFill>
                  <a:schemeClr val="bg1"/>
                </a:solidFill>
                <a:latin typeface="Bodoni MT Black" panose="02070A03080606020203" pitchFamily="18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SELECT 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supply_id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AVG(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quantity_dispatched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)</a:t>
              </a:r>
            </a:p>
            <a:p>
              <a:r>
                <a:rPr lang="en-US" sz="20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     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AS</a:t>
              </a:r>
              <a:r>
                <a:rPr lang="en-US" sz="20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avg_quantity_dispatched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FROM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         GROUP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BY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supply_id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56D4FB7-64F2-F127-354B-39F1DCCCBEB6}"/>
                </a:ext>
              </a:extLst>
            </p:cNvPr>
            <p:cNvSpPr/>
            <p:nvPr/>
          </p:nvSpPr>
          <p:spPr>
            <a:xfrm>
              <a:off x="10466962" y="599870"/>
              <a:ext cx="1508368" cy="646348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374A24D-22BC-93EE-2654-B9B721484513}"/>
                </a:ext>
              </a:extLst>
            </p:cNvPr>
            <p:cNvSpPr txBox="1"/>
            <p:nvPr/>
          </p:nvSpPr>
          <p:spPr>
            <a:xfrm>
              <a:off x="11255598" y="661442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10</a:t>
              </a: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DAE71642-F767-2C3A-7A21-C53BF8D49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98945" y="3143747"/>
              <a:ext cx="3838575" cy="3381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5850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 dir="r"/>
      </p:transition>
    </mc:Choice>
    <mc:Fallback xmlns="">
      <p:transition spd="slow">
        <p:cover dir="r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5F9E-6447-87DC-85BD-189ED48BF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3577849-7B79-0D73-967A-0F24CD437EB0}"/>
              </a:ext>
            </a:extLst>
          </p:cNvPr>
          <p:cNvGrpSpPr/>
          <p:nvPr/>
        </p:nvGrpSpPr>
        <p:grpSpPr>
          <a:xfrm>
            <a:off x="-17390" y="0"/>
            <a:ext cx="12359268" cy="6858000"/>
            <a:chOff x="0" y="0"/>
            <a:chExt cx="12359268" cy="6858000"/>
          </a:xfrm>
          <a:effectLst>
            <a:outerShdw blurRad="63500" dist="114300" dir="24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F8B9C68-3BED-DDF8-2F0B-3F86B9C1E01F}"/>
                </a:ext>
              </a:extLst>
            </p:cNvPr>
            <p:cNvSpPr/>
            <p:nvPr/>
          </p:nvSpPr>
          <p:spPr>
            <a:xfrm>
              <a:off x="9979233" y="5853745"/>
              <a:ext cx="1991032" cy="707923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6C87AB8-6E1D-825F-7F05-EE7659E0BFD8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A2A61F-6EFA-76D9-4636-0C7460F54B27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Retrieve Emergency Events with Dispatched Supplies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C3CDE55-60BA-2892-B862-EC0E23969F52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dirty="0">
                  <a:latin typeface="Arial Black" panose="020B0A04020102020204" pitchFamily="34" charset="0"/>
                </a:rPr>
                <a:t>SELECT 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, s.name </a:t>
              </a:r>
              <a:r>
                <a:rPr lang="en-US" dirty="0">
                  <a:latin typeface="Arial Black" panose="020B0A04020102020204" pitchFamily="34" charset="0"/>
                </a:rPr>
                <a:t>AS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Supply_Name,ed.quantity_dispatched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dirty="0">
                  <a:latin typeface="Arial Black" panose="020B0A04020102020204" pitchFamily="34" charset="0"/>
                  <a:cs typeface="Arial" panose="020B0604020202020204" pitchFamily="34" charset="0"/>
                </a:rPr>
                <a:t>   FROM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Emergency_Events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Arial Black" panose="020B0A04020102020204" pitchFamily="34" charset="0"/>
                </a:rPr>
                <a:t>INNER JOIN </a:t>
              </a:r>
            </a:p>
            <a:p>
              <a:r>
                <a:rPr lang="en-US" dirty="0">
                  <a:latin typeface="Arial Black" panose="020B0A04020102020204" pitchFamily="34" charset="0"/>
                </a:rPr>
                <a:t>   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  <a:r>
                <a:rPr lang="en-US" dirty="0">
                  <a:latin typeface="Arial Black" panose="020B0A04020102020204" pitchFamily="34" charset="0"/>
                </a:rPr>
                <a:t>ON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ee.event_id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ed.event_id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 Black" panose="020B0A04020102020204" pitchFamily="34" charset="0"/>
                </a:rPr>
                <a:t>      INNER JOIN 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Supplies s</a:t>
              </a:r>
              <a:r>
                <a:rPr lang="en-US" dirty="0">
                  <a:latin typeface="Arial Black" panose="020B0A04020102020204" pitchFamily="34" charset="0"/>
                </a:rPr>
                <a:t> ON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ed.supply_id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EA3985-C3EA-0FF0-40FC-DF930A1B8B79}"/>
                </a:ext>
              </a:extLst>
            </p:cNvPr>
            <p:cNvSpPr txBox="1"/>
            <p:nvPr/>
          </p:nvSpPr>
          <p:spPr>
            <a:xfrm>
              <a:off x="11385995" y="5915318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6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4C1E605-657E-DA9C-F319-71B9786E2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7622" y="2872189"/>
              <a:ext cx="4604084" cy="3689479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72FF079-F75F-7DBA-CC55-C2B420139A47}"/>
              </a:ext>
            </a:extLst>
          </p:cNvPr>
          <p:cNvGrpSpPr/>
          <p:nvPr/>
        </p:nvGrpSpPr>
        <p:grpSpPr>
          <a:xfrm>
            <a:off x="-379534" y="0"/>
            <a:ext cx="12099568" cy="6858000"/>
            <a:chOff x="0" y="0"/>
            <a:chExt cx="12099568" cy="6858000"/>
          </a:xfrm>
          <a:effectLst>
            <a:outerShdw blurRad="63500" dist="1143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E584201-B006-4FF8-A642-18893DEE75B1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DC92121-CC64-EB6C-3DD3-3B9572E9026B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highlight>
                    <a:srgbClr val="000000"/>
                  </a:highlight>
                  <a:latin typeface="Arial Black" panose="020B0A04020102020204" pitchFamily="34" charset="0"/>
                </a:rPr>
                <a:t>Retrieve Supplies with the Highest Quantity in Each Category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B8EF844-A7F9-956A-F6F9-A9D02ED58AF4}"/>
                </a:ext>
              </a:extLst>
            </p:cNvPr>
            <p:cNvSpPr txBox="1"/>
            <p:nvPr/>
          </p:nvSpPr>
          <p:spPr>
            <a:xfrm>
              <a:off x="928053" y="1083401"/>
              <a:ext cx="10710748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SELECT  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s1.name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Supply_Name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s1.category, s1.reorder_level</a:t>
              </a: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  FROM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s1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WHERE </a:t>
              </a: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    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s1.reorder_level =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(SELECT MAX(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s2.reorder_level)</a:t>
              </a: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       FROM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Supplies s2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WHERE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s2.category = s1.category)</a:t>
              </a: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         ORDER BY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s1.category;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3D192B41-C6C6-0056-C25C-86561B5EFB9A}"/>
                </a:ext>
              </a:extLst>
            </p:cNvPr>
            <p:cNvSpPr/>
            <p:nvPr/>
          </p:nvSpPr>
          <p:spPr>
            <a:xfrm>
              <a:off x="9979233" y="4584013"/>
              <a:ext cx="1991032" cy="70792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C66809E-8647-498B-D0D4-18E2417A4477}"/>
                </a:ext>
              </a:extLst>
            </p:cNvPr>
            <p:cNvSpPr txBox="1"/>
            <p:nvPr/>
          </p:nvSpPr>
          <p:spPr>
            <a:xfrm>
              <a:off x="11384901" y="4645586"/>
              <a:ext cx="71466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7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E25691CD-16FE-EC7F-D1DF-BE0FA7254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0791" y="3218752"/>
              <a:ext cx="5432007" cy="3438442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5A49DC3-FB66-051F-ED2F-40D3949E4DAB}"/>
              </a:ext>
            </a:extLst>
          </p:cNvPr>
          <p:cNvGrpSpPr/>
          <p:nvPr/>
        </p:nvGrpSpPr>
        <p:grpSpPr>
          <a:xfrm>
            <a:off x="-11656191" y="-43563"/>
            <a:ext cx="12338824" cy="6858000"/>
            <a:chOff x="0" y="0"/>
            <a:chExt cx="12338824" cy="6858000"/>
          </a:xfrm>
          <a:effectLst>
            <a:outerShdw blurRad="63500" dist="114300" dir="3000000" algn="tl" rotWithShape="0">
              <a:prstClr val="black">
                <a:alpha val="40000"/>
              </a:prstClr>
            </a:outerShdw>
          </a:effectLst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FE642DF-628A-FEEE-7711-33196F78F301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1F20FF8-F497-8163-E192-12ABC2BC2952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List Suppliers and Their Average Lead Time for Supplies They Provide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FC2BDE0-64E8-A159-35EE-EBC08FF6A04F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sp.name 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Supplier_Name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>
                  <a:latin typeface="Arial Black" panose="020B0A04020102020204" pitchFamily="34" charset="0"/>
                </a:rPr>
                <a:t>AVG(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sp.lead_time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2000" dirty="0"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Average_Lead_Time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latin typeface="Arial Black" panose="020B0A04020102020204" pitchFamily="34" charset="0"/>
                </a:rPr>
                <a:t>  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Suppliers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</a:t>
              </a:r>
              <a:r>
                <a:rPr lang="en-US" sz="2000" dirty="0" err="1">
                  <a:latin typeface="Arial Black" panose="020B0A04020102020204" pitchFamily="34" charset="0"/>
                </a:rPr>
                <a:t>JOIN</a:t>
              </a:r>
              <a:r>
                <a:rPr lang="en-US" sz="2000" dirty="0">
                  <a:latin typeface="Arial Black" panose="020B0A040201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Supply_Orders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so </a:t>
              </a:r>
              <a:r>
                <a:rPr lang="en-US" sz="2000" dirty="0"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sp.supplier_id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so.supplier_id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GROUP BY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sp.name</a:t>
              </a:r>
              <a:r>
                <a:rPr lang="en-US" sz="2000" dirty="0" err="1">
                  <a:latin typeface="Arial Black" panose="020B0A04020102020204" pitchFamily="34" charset="0"/>
                </a:rPr>
                <a:t>ORDER</a:t>
              </a:r>
              <a:r>
                <a:rPr lang="en-US" sz="2000" dirty="0">
                  <a:latin typeface="Arial Black" panose="020B0A04020102020204" pitchFamily="34" charset="0"/>
                </a:rPr>
                <a:t> BY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Average_Lead_Time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latin typeface="Arial Black" panose="020B0A04020102020204" pitchFamily="34" charset="0"/>
                </a:rPr>
                <a:t>ASC;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EDB5A01D-9DDC-5B56-D963-3C12CD1209B9}"/>
                </a:ext>
              </a:extLst>
            </p:cNvPr>
            <p:cNvSpPr/>
            <p:nvPr/>
          </p:nvSpPr>
          <p:spPr>
            <a:xfrm>
              <a:off x="9994521" y="3188891"/>
              <a:ext cx="1991032" cy="70792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93BA7FB-6079-3FA9-08AB-08CDC3C82FD0}"/>
                </a:ext>
              </a:extLst>
            </p:cNvPr>
            <p:cNvSpPr txBox="1"/>
            <p:nvPr/>
          </p:nvSpPr>
          <p:spPr>
            <a:xfrm>
              <a:off x="11365551" y="3250464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8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ED1B4ED-615F-EE85-6E38-441E4D19B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1677" y="2890334"/>
              <a:ext cx="5099777" cy="3850525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A34B866-8D8D-6647-99D1-5BB2D669B9E7}"/>
              </a:ext>
            </a:extLst>
          </p:cNvPr>
          <p:cNvGrpSpPr/>
          <p:nvPr/>
        </p:nvGrpSpPr>
        <p:grpSpPr>
          <a:xfrm>
            <a:off x="-12070473" y="-43563"/>
            <a:ext cx="12350531" cy="6858000"/>
            <a:chOff x="0" y="0"/>
            <a:chExt cx="12350531" cy="6858000"/>
          </a:xfrm>
          <a:effectLst>
            <a:outerShdw blurRad="63500" dist="114300" dir="3000000" algn="tl" rotWithShape="0">
              <a:prstClr val="black">
                <a:alpha val="40000"/>
              </a:prstClr>
            </a:outerShdw>
          </a:effectLst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A6B1212-D372-8FA3-DB26-F2F6F1D6D782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rgbClr val="605C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978ABD7-B4FF-9451-CDDD-4CDFCF034557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List Locations with Stock Levels Below Critical Thresholds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190CF99-5015-FD9A-6E2D-4BE6DD289AE6}"/>
                </a:ext>
              </a:extLst>
            </p:cNvPr>
            <p:cNvSpPr txBox="1"/>
            <p:nvPr/>
          </p:nvSpPr>
          <p:spPr>
            <a:xfrm>
              <a:off x="1274805" y="1038799"/>
              <a:ext cx="10710748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endParaRPr lang="en-US" sz="2800" dirty="0">
                <a:latin typeface="Bodoni MT Black" panose="02070A03080606020203" pitchFamily="18" charset="0"/>
              </a:endParaRPr>
            </a:p>
            <a:p>
              <a:r>
                <a:rPr lang="en-US" sz="2400" dirty="0">
                  <a:latin typeface="Arial Black" panose="020B0A04020102020204" pitchFamily="34" charset="0"/>
                </a:rPr>
                <a:t>SELECT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s.location_id,s.supply_id,s.quantity</a:t>
              </a:r>
              <a:r>
                <a:rPr lang="en-US" sz="2400" dirty="0" err="1">
                  <a:latin typeface="Bodoni MT Black" panose="02070A03080606020203" pitchFamily="18" charset="0"/>
                </a:rPr>
                <a:t>,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sp.reorder_level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sz="2400" dirty="0">
                  <a:latin typeface="Arial Black" panose="020B0A04020102020204" pitchFamily="34" charset="0"/>
                </a:rPr>
                <a:t>FROM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Stock s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>
                  <a:latin typeface="Arial Black" panose="020B0A04020102020204" pitchFamily="34" charset="0"/>
                </a:rPr>
                <a:t>JOIN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Supplies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sz="2400" dirty="0">
                  <a:latin typeface="Arial Black" panose="020B0A04020102020204" pitchFamily="34" charset="0"/>
                </a:rPr>
                <a:t>    ON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sp.supply_id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dirty="0">
                  <a:latin typeface="Arial Black" panose="020B0A04020102020204" pitchFamily="34" charset="0"/>
                </a:rPr>
                <a:t>    WHERE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s.quantity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sp.reorder_level</a:t>
              </a:r>
              <a:r>
                <a:rPr lang="en-US" sz="2400" dirty="0">
                  <a:latin typeface="Bodoni MT Black" panose="02070A03080606020203" pitchFamily="18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0EDB9BB8-AE38-14CA-EB23-095F710D4FB6}"/>
                </a:ext>
              </a:extLst>
            </p:cNvPr>
            <p:cNvSpPr/>
            <p:nvPr/>
          </p:nvSpPr>
          <p:spPr>
            <a:xfrm>
              <a:off x="9994521" y="1716628"/>
              <a:ext cx="1991032" cy="707923"/>
            </a:xfrm>
            <a:prstGeom prst="roundRect">
              <a:avLst/>
            </a:prstGeom>
            <a:solidFill>
              <a:srgbClr val="605C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E52834A-FB0B-33EB-55EB-DE95CD26D457}"/>
                </a:ext>
              </a:extLst>
            </p:cNvPr>
            <p:cNvSpPr txBox="1"/>
            <p:nvPr/>
          </p:nvSpPr>
          <p:spPr>
            <a:xfrm>
              <a:off x="11377258" y="1749041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9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1CAD52FE-8223-496A-1AEF-1F8D52C9B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72236" y="3927434"/>
              <a:ext cx="5429250" cy="1891767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C60DB0A-AD41-F6E7-F9F3-522DD89C3A5D}"/>
              </a:ext>
            </a:extLst>
          </p:cNvPr>
          <p:cNvGrpSpPr/>
          <p:nvPr/>
        </p:nvGrpSpPr>
        <p:grpSpPr>
          <a:xfrm>
            <a:off x="-12921984" y="-64132"/>
            <a:ext cx="12280610" cy="6858000"/>
            <a:chOff x="-51739" y="0"/>
            <a:chExt cx="12280610" cy="6858000"/>
          </a:xfrm>
          <a:effectLst>
            <a:outerShdw blurRad="63500" dist="114300" dir="3000000" algn="tl" rotWithShape="0">
              <a:schemeClr val="tx1">
                <a:alpha val="40000"/>
              </a:schemeClr>
            </a:outerShdw>
          </a:effectLst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1E9E49B-AAF3-E6F5-EB7E-AA4859DF12FD}"/>
                </a:ext>
              </a:extLst>
            </p:cNvPr>
            <p:cNvSpPr/>
            <p:nvPr/>
          </p:nvSpPr>
          <p:spPr>
            <a:xfrm>
              <a:off x="-51739" y="0"/>
              <a:ext cx="11307337" cy="685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6C60421-852F-C9D8-AA00-98F4B5355854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Predict Future Supply Needs Based on Past Usage Data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861CDC9-4F19-ECC7-5E70-C55015780A0B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endParaRPr lang="en-US" sz="1200" dirty="0">
                <a:solidFill>
                  <a:schemeClr val="bg1"/>
                </a:solidFill>
                <a:latin typeface="Bodoni MT Black" panose="02070A03080606020203" pitchFamily="18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SELECT 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supply_id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AVG(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quantity_dispatched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)</a:t>
              </a:r>
            </a:p>
            <a:p>
              <a:r>
                <a:rPr lang="en-US" sz="20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     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AS</a:t>
              </a:r>
              <a:r>
                <a:rPr lang="en-US" sz="20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avg_quantity_dispatched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FROM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         GROUP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BY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supply_id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1010C3BB-9F1E-3BB9-D86F-097649864D23}"/>
                </a:ext>
              </a:extLst>
            </p:cNvPr>
            <p:cNvSpPr/>
            <p:nvPr/>
          </p:nvSpPr>
          <p:spPr>
            <a:xfrm>
              <a:off x="10466962" y="599870"/>
              <a:ext cx="1508368" cy="646348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9219FE8-C7C1-3F7D-C81D-4674A2AD832B}"/>
                </a:ext>
              </a:extLst>
            </p:cNvPr>
            <p:cNvSpPr txBox="1"/>
            <p:nvPr/>
          </p:nvSpPr>
          <p:spPr>
            <a:xfrm>
              <a:off x="11255598" y="661442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10</a:t>
              </a: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29E55144-F47D-B16D-DACC-98A5D8229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98945" y="3143747"/>
              <a:ext cx="3838575" cy="3381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936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69AD2-D096-E06E-B305-D4DC80706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4CA8161E-2685-8199-FD81-5F3DDB0DFF32}"/>
              </a:ext>
            </a:extLst>
          </p:cNvPr>
          <p:cNvGrpSpPr/>
          <p:nvPr/>
        </p:nvGrpSpPr>
        <p:grpSpPr>
          <a:xfrm>
            <a:off x="-17390" y="0"/>
            <a:ext cx="12359268" cy="6858000"/>
            <a:chOff x="0" y="0"/>
            <a:chExt cx="12359268" cy="6858000"/>
          </a:xfrm>
          <a:effectLst>
            <a:outerShdw blurRad="63500" dist="114300" dir="24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3480F4D-CB0D-6AE8-77E7-327AADA2E867}"/>
                </a:ext>
              </a:extLst>
            </p:cNvPr>
            <p:cNvSpPr/>
            <p:nvPr/>
          </p:nvSpPr>
          <p:spPr>
            <a:xfrm>
              <a:off x="9979233" y="5853745"/>
              <a:ext cx="1991032" cy="707923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4C858AB-E3AB-A318-113F-53F935E34EC7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F76864-F6E3-8E69-FCBD-365E141E9941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Retrieve Emergency Events with Dispatched Supplies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060266-035B-1846-68EA-50ECF4389E09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dirty="0">
                  <a:latin typeface="Arial Black" panose="020B0A04020102020204" pitchFamily="34" charset="0"/>
                </a:rPr>
                <a:t>SELECT 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, s.name </a:t>
              </a:r>
              <a:r>
                <a:rPr lang="en-US" dirty="0">
                  <a:latin typeface="Arial Black" panose="020B0A04020102020204" pitchFamily="34" charset="0"/>
                </a:rPr>
                <a:t>AS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Supply_Name,ed.quantity_dispatched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dirty="0">
                  <a:latin typeface="Arial Black" panose="020B0A04020102020204" pitchFamily="34" charset="0"/>
                  <a:cs typeface="Arial" panose="020B0604020202020204" pitchFamily="34" charset="0"/>
                </a:rPr>
                <a:t>   FROM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Emergency_Events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Arial Black" panose="020B0A04020102020204" pitchFamily="34" charset="0"/>
                </a:rPr>
                <a:t>INNER JOIN </a:t>
              </a:r>
            </a:p>
            <a:p>
              <a:r>
                <a:rPr lang="en-US" dirty="0">
                  <a:latin typeface="Arial Black" panose="020B0A04020102020204" pitchFamily="34" charset="0"/>
                </a:rPr>
                <a:t>   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  <a:r>
                <a:rPr lang="en-US" dirty="0">
                  <a:latin typeface="Arial Black" panose="020B0A04020102020204" pitchFamily="34" charset="0"/>
                </a:rPr>
                <a:t>ON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ee.event_id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ed.event_id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 Black" panose="020B0A04020102020204" pitchFamily="34" charset="0"/>
                </a:rPr>
                <a:t>      INNER JOIN 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Supplies s</a:t>
              </a:r>
              <a:r>
                <a:rPr lang="en-US" dirty="0">
                  <a:latin typeface="Arial Black" panose="020B0A04020102020204" pitchFamily="34" charset="0"/>
                </a:rPr>
                <a:t> ON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ed.supply_id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685C35-932B-C449-47CE-7C0BEE14D78F}"/>
                </a:ext>
              </a:extLst>
            </p:cNvPr>
            <p:cNvSpPr txBox="1"/>
            <p:nvPr/>
          </p:nvSpPr>
          <p:spPr>
            <a:xfrm>
              <a:off x="11385995" y="5915318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6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14BCE72-216A-D545-093F-2B0075F1F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7622" y="2872189"/>
              <a:ext cx="4604084" cy="3689479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99B875C-C50C-DA85-EAC4-A046C7A5EF94}"/>
              </a:ext>
            </a:extLst>
          </p:cNvPr>
          <p:cNvGrpSpPr/>
          <p:nvPr/>
        </p:nvGrpSpPr>
        <p:grpSpPr>
          <a:xfrm>
            <a:off x="-379534" y="0"/>
            <a:ext cx="12099568" cy="6858000"/>
            <a:chOff x="0" y="0"/>
            <a:chExt cx="12099568" cy="6858000"/>
          </a:xfrm>
          <a:effectLst>
            <a:outerShdw blurRad="63500" dist="1143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F25478E-4807-23DF-DEEC-F6062B6DD985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A5E275-5DBA-85CE-D86B-6F66CC991F73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C0C0C0"/>
                  </a:highlight>
                  <a:latin typeface="Arial Black" panose="020B0A04020102020204" pitchFamily="34" charset="0"/>
                </a:rPr>
                <a:t>Retrieve Supplies with the Highest Quantity in Each Category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8819624-64B1-AEF0-F5AF-2816D3E4333E}"/>
                </a:ext>
              </a:extLst>
            </p:cNvPr>
            <p:cNvSpPr txBox="1"/>
            <p:nvPr/>
          </p:nvSpPr>
          <p:spPr>
            <a:xfrm>
              <a:off x="928053" y="1083401"/>
              <a:ext cx="10710748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SELECT  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s1.name </a:t>
              </a:r>
              <a:r>
                <a:rPr lang="en-US" sz="2000" dirty="0"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Supply_Name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s1.category, s1.reorder_level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Supplies s1 </a:t>
              </a:r>
              <a:r>
                <a:rPr lang="en-US" sz="2000" dirty="0">
                  <a:latin typeface="Arial Black" panose="020B0A04020102020204" pitchFamily="34" charset="0"/>
                </a:rPr>
                <a:t>WHERE 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s1.reorder_level = </a:t>
              </a:r>
              <a:r>
                <a:rPr lang="en-US" sz="2000" dirty="0">
                  <a:latin typeface="Arial Black" panose="020B0A04020102020204" pitchFamily="34" charset="0"/>
                </a:rPr>
                <a:t>(SELECT MAX(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s2.reorder_level)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Supplies s2 </a:t>
              </a:r>
              <a:r>
                <a:rPr lang="en-US" sz="2000" dirty="0">
                  <a:latin typeface="Arial Black" panose="020B0A04020102020204" pitchFamily="34" charset="0"/>
                </a:rPr>
                <a:t>WHERE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s2.category = s1.category)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    ORDER BY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s1.category;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DB2C11F3-DE5A-9AE9-F17F-F5178033F881}"/>
                </a:ext>
              </a:extLst>
            </p:cNvPr>
            <p:cNvSpPr/>
            <p:nvPr/>
          </p:nvSpPr>
          <p:spPr>
            <a:xfrm>
              <a:off x="9979233" y="4584013"/>
              <a:ext cx="1991032" cy="70792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CB0E940-1859-7509-4876-BA8784F7D5E8}"/>
                </a:ext>
              </a:extLst>
            </p:cNvPr>
            <p:cNvSpPr txBox="1"/>
            <p:nvPr/>
          </p:nvSpPr>
          <p:spPr>
            <a:xfrm>
              <a:off x="11384901" y="4645586"/>
              <a:ext cx="71466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7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F84AC741-7D3B-9C7A-1386-6E33FB2DA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0791" y="3218752"/>
              <a:ext cx="5432007" cy="3438442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0CFA6D3-99B6-77C7-E412-FB9404EACB93}"/>
              </a:ext>
            </a:extLst>
          </p:cNvPr>
          <p:cNvGrpSpPr/>
          <p:nvPr/>
        </p:nvGrpSpPr>
        <p:grpSpPr>
          <a:xfrm>
            <a:off x="-446470" y="0"/>
            <a:ext cx="12338824" cy="6858000"/>
            <a:chOff x="0" y="0"/>
            <a:chExt cx="12338824" cy="6858000"/>
          </a:xfrm>
          <a:effectLst>
            <a:outerShdw blurRad="63500" dist="114300" dir="3000000" algn="tl" rotWithShape="0">
              <a:prstClr val="black">
                <a:alpha val="40000"/>
              </a:prstClr>
            </a:outerShdw>
          </a:effectLst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90742B9-8FC4-8D23-7F6E-31A887FB37E4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F83AA8E-491E-B165-CE76-B9A839833678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List Suppliers and Their Average Lead Time for Supplies They Provide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8F8B8A-9B59-8364-C955-F49CCFF2A763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sp.name AS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Supplier_Name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AVG(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sp.lead_time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Average_Lead_Time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    FROM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Suppliers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</a:t>
              </a:r>
              <a:r>
                <a:rPr lang="en-US" sz="2000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JOIN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Supply_Orders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so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sp.supplier_id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so.supplier_id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     GROUP BY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sp.name</a:t>
              </a:r>
              <a:r>
                <a:rPr lang="en-US" sz="2000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ORDER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BY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Average_Lead_Time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ASC;</a:t>
              </a:r>
            </a:p>
            <a:p>
              <a:endPara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97D547AF-7B17-E005-0B13-1C28F51086AE}"/>
                </a:ext>
              </a:extLst>
            </p:cNvPr>
            <p:cNvSpPr/>
            <p:nvPr/>
          </p:nvSpPr>
          <p:spPr>
            <a:xfrm>
              <a:off x="9994521" y="3188891"/>
              <a:ext cx="1991032" cy="70792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FC32B54-2A89-4C19-DEA1-3C866BA08B87}"/>
                </a:ext>
              </a:extLst>
            </p:cNvPr>
            <p:cNvSpPr txBox="1"/>
            <p:nvPr/>
          </p:nvSpPr>
          <p:spPr>
            <a:xfrm>
              <a:off x="11365551" y="3250464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8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6F7A952-05EE-72C1-3C3E-C415CD3C7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1677" y="2890334"/>
              <a:ext cx="5099777" cy="3850525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4716E79-C03A-C18A-7A90-F729E146C1F3}"/>
              </a:ext>
            </a:extLst>
          </p:cNvPr>
          <p:cNvGrpSpPr/>
          <p:nvPr/>
        </p:nvGrpSpPr>
        <p:grpSpPr>
          <a:xfrm>
            <a:off x="-11703947" y="0"/>
            <a:ext cx="12350531" cy="6858000"/>
            <a:chOff x="0" y="0"/>
            <a:chExt cx="12350531" cy="6858000"/>
          </a:xfrm>
          <a:effectLst>
            <a:outerShdw blurRad="63500" dist="114300" dir="3000000" algn="tl" rotWithShape="0">
              <a:prstClr val="black">
                <a:alpha val="40000"/>
              </a:prstClr>
            </a:outerShdw>
          </a:effectLst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DABECCC-3A2D-F634-D48D-DE545A965CC5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rgbClr val="605C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241848B-6B20-B2A1-885A-AC70119D8935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List Locations with Stock Levels Below Critical Thresholds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8A0578E-8129-8128-9763-B844461868BE}"/>
                </a:ext>
              </a:extLst>
            </p:cNvPr>
            <p:cNvSpPr txBox="1"/>
            <p:nvPr/>
          </p:nvSpPr>
          <p:spPr>
            <a:xfrm>
              <a:off x="1274805" y="1038799"/>
              <a:ext cx="10710748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endParaRPr lang="en-US" sz="2800" dirty="0">
                <a:latin typeface="Bodoni MT Black" panose="02070A03080606020203" pitchFamily="18" charset="0"/>
              </a:endParaRPr>
            </a:p>
            <a:p>
              <a:r>
                <a:rPr lang="en-US" sz="2400" dirty="0">
                  <a:latin typeface="Arial Black" panose="020B0A04020102020204" pitchFamily="34" charset="0"/>
                </a:rPr>
                <a:t>SELECT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s.location_id,s.supply_id,s.quantity</a:t>
              </a:r>
              <a:r>
                <a:rPr lang="en-US" sz="2400" dirty="0" err="1">
                  <a:latin typeface="Bodoni MT Black" panose="02070A03080606020203" pitchFamily="18" charset="0"/>
                </a:rPr>
                <a:t>,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sp.reorder_level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sz="2400" dirty="0">
                  <a:latin typeface="Arial Black" panose="020B0A04020102020204" pitchFamily="34" charset="0"/>
                </a:rPr>
                <a:t>FROM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Stock s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>
                  <a:latin typeface="Arial Black" panose="020B0A04020102020204" pitchFamily="34" charset="0"/>
                </a:rPr>
                <a:t>JOIN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Supplies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sz="2400" dirty="0">
                  <a:latin typeface="Arial Black" panose="020B0A04020102020204" pitchFamily="34" charset="0"/>
                </a:rPr>
                <a:t>    ON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sp.supply_id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dirty="0">
                  <a:latin typeface="Arial Black" panose="020B0A04020102020204" pitchFamily="34" charset="0"/>
                </a:rPr>
                <a:t>    WHERE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s.quantity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sp.reorder_level</a:t>
              </a:r>
              <a:r>
                <a:rPr lang="en-US" sz="2400" dirty="0">
                  <a:latin typeface="Bodoni MT Black" panose="02070A03080606020203" pitchFamily="18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B20EDA70-751F-B1D2-6BF7-14E9E1CB9A94}"/>
                </a:ext>
              </a:extLst>
            </p:cNvPr>
            <p:cNvSpPr/>
            <p:nvPr/>
          </p:nvSpPr>
          <p:spPr>
            <a:xfrm>
              <a:off x="9994521" y="1716628"/>
              <a:ext cx="1991032" cy="707923"/>
            </a:xfrm>
            <a:prstGeom prst="roundRect">
              <a:avLst/>
            </a:prstGeom>
            <a:solidFill>
              <a:srgbClr val="605C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B6165CA-14CC-F42B-4204-7A9B76AB524C}"/>
                </a:ext>
              </a:extLst>
            </p:cNvPr>
            <p:cNvSpPr txBox="1"/>
            <p:nvPr/>
          </p:nvSpPr>
          <p:spPr>
            <a:xfrm>
              <a:off x="11377258" y="1749041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9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F981649F-EF02-0E1C-F609-EF711EB7D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72236" y="3927434"/>
              <a:ext cx="5429250" cy="1891767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1EB0F9C-3D55-6527-29FC-68AB64418B91}"/>
              </a:ext>
            </a:extLst>
          </p:cNvPr>
          <p:cNvGrpSpPr/>
          <p:nvPr/>
        </p:nvGrpSpPr>
        <p:grpSpPr>
          <a:xfrm>
            <a:off x="-12549371" y="-32066"/>
            <a:ext cx="12280610" cy="6858000"/>
            <a:chOff x="-51739" y="0"/>
            <a:chExt cx="12280610" cy="6858000"/>
          </a:xfrm>
          <a:effectLst>
            <a:outerShdw blurRad="63500" dist="114300" dir="3000000" algn="tl" rotWithShape="0">
              <a:schemeClr val="tx1">
                <a:alpha val="40000"/>
              </a:schemeClr>
            </a:outerShdw>
          </a:effectLst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AA62829-1906-7237-C972-B1E09F1F8C32}"/>
                </a:ext>
              </a:extLst>
            </p:cNvPr>
            <p:cNvSpPr/>
            <p:nvPr/>
          </p:nvSpPr>
          <p:spPr>
            <a:xfrm>
              <a:off x="-51739" y="0"/>
              <a:ext cx="11307337" cy="685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218371C-227F-66EB-15FE-A6D8AFE22279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Predict Future Supply Needs Based on Past Usage Data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02504EA-1B7D-061F-EB00-E85060BE6A88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endParaRPr lang="en-US" sz="1200" dirty="0">
                <a:solidFill>
                  <a:schemeClr val="bg1"/>
                </a:solidFill>
                <a:latin typeface="Bodoni MT Black" panose="02070A03080606020203" pitchFamily="18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SELECT 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supply_id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AVG(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quantity_dispatched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)</a:t>
              </a:r>
            </a:p>
            <a:p>
              <a:r>
                <a:rPr lang="en-US" sz="20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     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AS</a:t>
              </a:r>
              <a:r>
                <a:rPr lang="en-US" sz="20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avg_quantity_dispatched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FROM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         GROUP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BY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supply_id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AD488236-0D25-8F85-1F00-5BB07BDE43BE}"/>
                </a:ext>
              </a:extLst>
            </p:cNvPr>
            <p:cNvSpPr/>
            <p:nvPr/>
          </p:nvSpPr>
          <p:spPr>
            <a:xfrm>
              <a:off x="10466962" y="599870"/>
              <a:ext cx="1508368" cy="646348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A86D395-571C-EEE9-398E-146A8DCB8E24}"/>
                </a:ext>
              </a:extLst>
            </p:cNvPr>
            <p:cNvSpPr txBox="1"/>
            <p:nvPr/>
          </p:nvSpPr>
          <p:spPr>
            <a:xfrm>
              <a:off x="11255598" y="661442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10</a:t>
              </a: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C431DCD7-20DA-FCC1-9C92-3A12D382F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98945" y="3143747"/>
              <a:ext cx="3838575" cy="3381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9691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66611-9B7A-0DC6-A49F-BFB2DF6D5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46AB810-2F39-2DA6-4547-B19B8D931537}"/>
              </a:ext>
            </a:extLst>
          </p:cNvPr>
          <p:cNvGrpSpPr/>
          <p:nvPr/>
        </p:nvGrpSpPr>
        <p:grpSpPr>
          <a:xfrm>
            <a:off x="-17390" y="0"/>
            <a:ext cx="12359268" cy="6858000"/>
            <a:chOff x="0" y="0"/>
            <a:chExt cx="12359268" cy="6858000"/>
          </a:xfrm>
          <a:effectLst>
            <a:outerShdw blurRad="63500" dist="114300" dir="24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880A8F6-D450-CAD5-6D2E-2550B07738FE}"/>
                </a:ext>
              </a:extLst>
            </p:cNvPr>
            <p:cNvSpPr/>
            <p:nvPr/>
          </p:nvSpPr>
          <p:spPr>
            <a:xfrm>
              <a:off x="9979233" y="5853745"/>
              <a:ext cx="1991032" cy="707923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C3B9B92-2874-00AE-0504-D601CE8E7069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C735EC0-A4F8-3229-6288-98EBCD9FD27B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Retrieve Emergency Events with Dispatched Supplies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341DE2-D86B-8221-D578-BD6B73924603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dirty="0">
                  <a:latin typeface="Arial Black" panose="020B0A04020102020204" pitchFamily="34" charset="0"/>
                </a:rPr>
                <a:t>SELECT 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, s.name </a:t>
              </a:r>
              <a:r>
                <a:rPr lang="en-US" dirty="0">
                  <a:latin typeface="Arial Black" panose="020B0A04020102020204" pitchFamily="34" charset="0"/>
                </a:rPr>
                <a:t>AS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Supply_Name,ed.quantity_dispatched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dirty="0">
                  <a:latin typeface="Arial Black" panose="020B0A04020102020204" pitchFamily="34" charset="0"/>
                  <a:cs typeface="Arial" panose="020B0604020202020204" pitchFamily="34" charset="0"/>
                </a:rPr>
                <a:t>   FROM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Emergency_Events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Arial Black" panose="020B0A04020102020204" pitchFamily="34" charset="0"/>
                </a:rPr>
                <a:t>INNER JOIN </a:t>
              </a:r>
            </a:p>
            <a:p>
              <a:r>
                <a:rPr lang="en-US" dirty="0">
                  <a:latin typeface="Arial Black" panose="020B0A04020102020204" pitchFamily="34" charset="0"/>
                </a:rPr>
                <a:t>   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  <a:r>
                <a:rPr lang="en-US" dirty="0">
                  <a:latin typeface="Arial Black" panose="020B0A04020102020204" pitchFamily="34" charset="0"/>
                </a:rPr>
                <a:t>ON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ee.event_id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ed.event_id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 Black" panose="020B0A04020102020204" pitchFamily="34" charset="0"/>
                </a:rPr>
                <a:t>      INNER JOIN 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Supplies s</a:t>
              </a:r>
              <a:r>
                <a:rPr lang="en-US" dirty="0">
                  <a:latin typeface="Arial Black" panose="020B0A04020102020204" pitchFamily="34" charset="0"/>
                </a:rPr>
                <a:t> ON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ed.supply_id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0E08519-B043-E98B-5093-F098BFBBE032}"/>
                </a:ext>
              </a:extLst>
            </p:cNvPr>
            <p:cNvSpPr txBox="1"/>
            <p:nvPr/>
          </p:nvSpPr>
          <p:spPr>
            <a:xfrm>
              <a:off x="11385995" y="5915318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6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8E5DF91-01A4-E0C5-FC87-41BC21B71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7622" y="2872189"/>
              <a:ext cx="4604084" cy="3689479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9111110-E749-81BE-FF5D-090AEEBF453C}"/>
              </a:ext>
            </a:extLst>
          </p:cNvPr>
          <p:cNvGrpSpPr/>
          <p:nvPr/>
        </p:nvGrpSpPr>
        <p:grpSpPr>
          <a:xfrm>
            <a:off x="-379534" y="0"/>
            <a:ext cx="12099568" cy="6858000"/>
            <a:chOff x="0" y="0"/>
            <a:chExt cx="12099568" cy="6858000"/>
          </a:xfrm>
          <a:effectLst>
            <a:outerShdw blurRad="63500" dist="1143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E397DB8-63B0-543A-2B9C-A19C007B9787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3AF275B-7189-A92A-64D9-11F1C2A9B599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C0C0C0"/>
                  </a:highlight>
                  <a:latin typeface="Arial Black" panose="020B0A04020102020204" pitchFamily="34" charset="0"/>
                </a:rPr>
                <a:t>Retrieve Supplies with the Highest Quantity in Each Category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CB2F2FB-59D2-735D-E7FD-6B20DD52A294}"/>
                </a:ext>
              </a:extLst>
            </p:cNvPr>
            <p:cNvSpPr txBox="1"/>
            <p:nvPr/>
          </p:nvSpPr>
          <p:spPr>
            <a:xfrm>
              <a:off x="928053" y="1083401"/>
              <a:ext cx="10710748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SELECT  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s1.name </a:t>
              </a:r>
              <a:r>
                <a:rPr lang="en-US" sz="2000" dirty="0"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Supply_Name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s1.category, s1.reorder_level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Supplies s1 </a:t>
              </a:r>
              <a:r>
                <a:rPr lang="en-US" sz="2000" dirty="0">
                  <a:latin typeface="Arial Black" panose="020B0A04020102020204" pitchFamily="34" charset="0"/>
                </a:rPr>
                <a:t>WHERE 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s1.reorder_level = </a:t>
              </a:r>
              <a:r>
                <a:rPr lang="en-US" sz="2000" dirty="0">
                  <a:latin typeface="Arial Black" panose="020B0A04020102020204" pitchFamily="34" charset="0"/>
                </a:rPr>
                <a:t>(SELECT MAX(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s2.reorder_level)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Supplies s2 </a:t>
              </a:r>
              <a:r>
                <a:rPr lang="en-US" sz="2000" dirty="0">
                  <a:latin typeface="Arial Black" panose="020B0A04020102020204" pitchFamily="34" charset="0"/>
                </a:rPr>
                <a:t>WHERE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s2.category = s1.category)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    ORDER BY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s1.category;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05CDA78D-75A5-DAD3-37FD-F0BDDF92CFB3}"/>
                </a:ext>
              </a:extLst>
            </p:cNvPr>
            <p:cNvSpPr/>
            <p:nvPr/>
          </p:nvSpPr>
          <p:spPr>
            <a:xfrm>
              <a:off x="9979233" y="4584013"/>
              <a:ext cx="1991032" cy="70792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D4F36A2-0289-34FB-DF91-F4E6872DF1D7}"/>
                </a:ext>
              </a:extLst>
            </p:cNvPr>
            <p:cNvSpPr txBox="1"/>
            <p:nvPr/>
          </p:nvSpPr>
          <p:spPr>
            <a:xfrm>
              <a:off x="11384901" y="4645586"/>
              <a:ext cx="71466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7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C7C48412-0DF8-C88B-0152-467D7B304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0791" y="3218752"/>
              <a:ext cx="5432007" cy="3438442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C0B34B9-5DCA-F478-A512-56CBB1C835F6}"/>
              </a:ext>
            </a:extLst>
          </p:cNvPr>
          <p:cNvGrpSpPr/>
          <p:nvPr/>
        </p:nvGrpSpPr>
        <p:grpSpPr>
          <a:xfrm>
            <a:off x="-446470" y="0"/>
            <a:ext cx="12338824" cy="6858000"/>
            <a:chOff x="0" y="0"/>
            <a:chExt cx="12338824" cy="6858000"/>
          </a:xfrm>
          <a:effectLst>
            <a:outerShdw blurRad="63500" dist="114300" dir="3000000" algn="tl" rotWithShape="0">
              <a:prstClr val="black">
                <a:alpha val="40000"/>
              </a:prstClr>
            </a:outerShdw>
          </a:effectLst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1FFD3FF-6539-F750-76F0-0B29386DB183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20C4B2E-60D6-21FB-41A9-9060966129F4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List Suppliers and Their Average Lead Time for Supplies They Provide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7B7998C-8A3A-AA24-4FB0-3276768E5573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sp.name 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Supplier_Name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>
                  <a:latin typeface="Arial Black" panose="020B0A04020102020204" pitchFamily="34" charset="0"/>
                </a:rPr>
                <a:t>AVG(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sp.lead_time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2000" dirty="0"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Average_Lead_Time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latin typeface="Arial Black" panose="020B0A04020102020204" pitchFamily="34" charset="0"/>
                </a:rPr>
                <a:t>  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Suppliers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</a:t>
              </a:r>
              <a:r>
                <a:rPr lang="en-US" sz="2000" dirty="0" err="1">
                  <a:latin typeface="Arial Black" panose="020B0A04020102020204" pitchFamily="34" charset="0"/>
                </a:rPr>
                <a:t>JOIN</a:t>
              </a:r>
              <a:r>
                <a:rPr lang="en-US" sz="2000" dirty="0">
                  <a:latin typeface="Arial Black" panose="020B0A040201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Supply_Orders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so </a:t>
              </a:r>
              <a:r>
                <a:rPr lang="en-US" sz="2000" dirty="0"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sp.supplier_id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so.supplier_id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GROUP BY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sp.name</a:t>
              </a:r>
              <a:r>
                <a:rPr lang="en-US" sz="2000" dirty="0" err="1">
                  <a:latin typeface="Arial Black" panose="020B0A04020102020204" pitchFamily="34" charset="0"/>
                </a:rPr>
                <a:t>ORDER</a:t>
              </a:r>
              <a:r>
                <a:rPr lang="en-US" sz="2000" dirty="0">
                  <a:latin typeface="Arial Black" panose="020B0A04020102020204" pitchFamily="34" charset="0"/>
                </a:rPr>
                <a:t> BY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Average_Lead_Time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latin typeface="Arial Black" panose="020B0A04020102020204" pitchFamily="34" charset="0"/>
                </a:rPr>
                <a:t>ASC;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472FA0B-01A0-6A70-6F7E-A896021E6810}"/>
                </a:ext>
              </a:extLst>
            </p:cNvPr>
            <p:cNvSpPr/>
            <p:nvPr/>
          </p:nvSpPr>
          <p:spPr>
            <a:xfrm>
              <a:off x="9994521" y="3188891"/>
              <a:ext cx="1991032" cy="70792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321B9B0-BFE4-964F-F570-54E9ADF4D64E}"/>
                </a:ext>
              </a:extLst>
            </p:cNvPr>
            <p:cNvSpPr txBox="1"/>
            <p:nvPr/>
          </p:nvSpPr>
          <p:spPr>
            <a:xfrm>
              <a:off x="11365551" y="3250464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8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A8E11163-840A-C23E-572D-FB613D273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1677" y="2890334"/>
              <a:ext cx="5099777" cy="3850525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8A1B111-59B5-6304-ADC5-7AB8D8F12E34}"/>
              </a:ext>
            </a:extLst>
          </p:cNvPr>
          <p:cNvGrpSpPr/>
          <p:nvPr/>
        </p:nvGrpSpPr>
        <p:grpSpPr>
          <a:xfrm>
            <a:off x="-600861" y="0"/>
            <a:ext cx="12350531" cy="6858000"/>
            <a:chOff x="0" y="0"/>
            <a:chExt cx="12350531" cy="6858000"/>
          </a:xfrm>
          <a:effectLst>
            <a:outerShdw blurRad="63500" dist="114300" dir="3000000" algn="tl" rotWithShape="0">
              <a:prstClr val="black">
                <a:alpha val="40000"/>
              </a:prstClr>
            </a:outerShdw>
          </a:effectLst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53402CE-1D21-3B4E-169D-A21571C871B1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rgbClr val="605C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177177B-6DB9-D867-7350-6357BF19100B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List Locations with Stock Levels Below Critical Thresholds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66CC316-67C2-078C-83A2-992DB43769ED}"/>
                </a:ext>
              </a:extLst>
            </p:cNvPr>
            <p:cNvSpPr txBox="1"/>
            <p:nvPr/>
          </p:nvSpPr>
          <p:spPr>
            <a:xfrm>
              <a:off x="1274805" y="1038799"/>
              <a:ext cx="10710748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endParaRPr lang="en-US" sz="2800" dirty="0">
                <a:latin typeface="Bodoni MT Black" panose="02070A03080606020203" pitchFamily="18" charset="0"/>
              </a:endParaRPr>
            </a:p>
            <a:p>
              <a:r>
                <a:rPr lang="en-US" sz="2400" dirty="0">
                  <a:latin typeface="Arial Black" panose="020B0A04020102020204" pitchFamily="34" charset="0"/>
                </a:rPr>
                <a:t>SELECT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s.location_id,s.supply_id,s.quantity</a:t>
              </a:r>
              <a:r>
                <a:rPr lang="en-US" sz="2400" dirty="0" err="1">
                  <a:latin typeface="Bodoni MT Black" panose="02070A03080606020203" pitchFamily="18" charset="0"/>
                </a:rPr>
                <a:t>,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sp.reorder_level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sz="2400" dirty="0">
                  <a:latin typeface="Arial Black" panose="020B0A04020102020204" pitchFamily="34" charset="0"/>
                </a:rPr>
                <a:t>FROM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Stock s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>
                  <a:latin typeface="Arial Black" panose="020B0A04020102020204" pitchFamily="34" charset="0"/>
                </a:rPr>
                <a:t>JOIN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Supplies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sz="2400" dirty="0">
                  <a:latin typeface="Arial Black" panose="020B0A04020102020204" pitchFamily="34" charset="0"/>
                </a:rPr>
                <a:t>    ON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sp.supply_id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dirty="0">
                  <a:latin typeface="Arial Black" panose="020B0A04020102020204" pitchFamily="34" charset="0"/>
                </a:rPr>
                <a:t>    WHERE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s.quantity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sp.reorder_level</a:t>
              </a:r>
              <a:r>
                <a:rPr lang="en-US" sz="2400" dirty="0">
                  <a:latin typeface="Bodoni MT Black" panose="02070A03080606020203" pitchFamily="18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F1F40A48-E0EC-64C8-159B-97B5DDDA8DFD}"/>
                </a:ext>
              </a:extLst>
            </p:cNvPr>
            <p:cNvSpPr/>
            <p:nvPr/>
          </p:nvSpPr>
          <p:spPr>
            <a:xfrm>
              <a:off x="9994521" y="1716628"/>
              <a:ext cx="1991032" cy="707923"/>
            </a:xfrm>
            <a:prstGeom prst="roundRect">
              <a:avLst/>
            </a:prstGeom>
            <a:solidFill>
              <a:srgbClr val="605C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91B309B-1A34-0625-52F0-4B77BAD4AD4A}"/>
                </a:ext>
              </a:extLst>
            </p:cNvPr>
            <p:cNvSpPr txBox="1"/>
            <p:nvPr/>
          </p:nvSpPr>
          <p:spPr>
            <a:xfrm>
              <a:off x="11377258" y="1749041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9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80489595-30E8-E826-15FB-B16E033C1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72236" y="3927434"/>
              <a:ext cx="5429250" cy="1891767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DDE9E35-DA30-BE86-769F-1427ACE58C4C}"/>
              </a:ext>
            </a:extLst>
          </p:cNvPr>
          <p:cNvGrpSpPr/>
          <p:nvPr/>
        </p:nvGrpSpPr>
        <p:grpSpPr>
          <a:xfrm>
            <a:off x="-12207506" y="113851"/>
            <a:ext cx="12280610" cy="6858000"/>
            <a:chOff x="-51739" y="0"/>
            <a:chExt cx="12280610" cy="6858000"/>
          </a:xfrm>
          <a:effectLst>
            <a:outerShdw blurRad="63500" dist="114300" dir="3000000" algn="tl" rotWithShape="0">
              <a:schemeClr val="tx1">
                <a:alpha val="40000"/>
              </a:schemeClr>
            </a:outerShdw>
          </a:effectLst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CDBA83D-B85D-CF64-10CF-E573823C029A}"/>
                </a:ext>
              </a:extLst>
            </p:cNvPr>
            <p:cNvSpPr/>
            <p:nvPr/>
          </p:nvSpPr>
          <p:spPr>
            <a:xfrm>
              <a:off x="-51739" y="0"/>
              <a:ext cx="11307337" cy="685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200F352-7A90-9607-333B-C47593ED16F3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Predict Future Supply Needs Based on Past Usage Data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2B632B0-91D7-0636-7C6F-A1361D8D3131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endParaRPr lang="en-US" sz="1200" dirty="0">
                <a:solidFill>
                  <a:schemeClr val="bg1"/>
                </a:solidFill>
                <a:latin typeface="Bodoni MT Black" panose="02070A03080606020203" pitchFamily="18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SELECT 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supply_id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AVG(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quantity_dispatched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)</a:t>
              </a:r>
            </a:p>
            <a:p>
              <a:r>
                <a:rPr lang="en-US" sz="20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     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AS</a:t>
              </a:r>
              <a:r>
                <a:rPr lang="en-US" sz="20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avg_quantity_dispatched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FROM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         GROUP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BY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supply_id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92A55F11-CA3C-CFEB-9D70-1A744D056575}"/>
                </a:ext>
              </a:extLst>
            </p:cNvPr>
            <p:cNvSpPr/>
            <p:nvPr/>
          </p:nvSpPr>
          <p:spPr>
            <a:xfrm>
              <a:off x="10466962" y="599870"/>
              <a:ext cx="1508368" cy="646348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F8B5ECE-7197-D97E-3BCA-E59960168378}"/>
                </a:ext>
              </a:extLst>
            </p:cNvPr>
            <p:cNvSpPr txBox="1"/>
            <p:nvPr/>
          </p:nvSpPr>
          <p:spPr>
            <a:xfrm>
              <a:off x="11255598" y="661442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10</a:t>
              </a: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7CFD5332-FCD0-5860-BC5D-DE5D20CAA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98945" y="3143747"/>
              <a:ext cx="3838575" cy="3381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5442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CB701C-3330-CD20-8024-A25BC9DF6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DA15BB7-55B3-39AE-D803-255F8C4AD7BB}"/>
              </a:ext>
            </a:extLst>
          </p:cNvPr>
          <p:cNvGrpSpPr/>
          <p:nvPr/>
        </p:nvGrpSpPr>
        <p:grpSpPr>
          <a:xfrm>
            <a:off x="-17390" y="0"/>
            <a:ext cx="12359268" cy="6858000"/>
            <a:chOff x="0" y="0"/>
            <a:chExt cx="12359268" cy="6858000"/>
          </a:xfrm>
          <a:effectLst>
            <a:outerShdw blurRad="63500" dist="114300" dir="24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86CB044-5590-7513-9A63-3A398DB0156E}"/>
                </a:ext>
              </a:extLst>
            </p:cNvPr>
            <p:cNvSpPr/>
            <p:nvPr/>
          </p:nvSpPr>
          <p:spPr>
            <a:xfrm>
              <a:off x="9979233" y="5853745"/>
              <a:ext cx="1991032" cy="707923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A31744D-D166-5F0D-8104-DF6005115BA6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EA9E62-F3F8-254D-8B8D-158483BEFE3F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Retrieve Emergency Events with Dispatched Supplies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338F1C-558D-800C-09D6-2BFC0507D03B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dirty="0">
                  <a:latin typeface="Arial Black" panose="020B0A04020102020204" pitchFamily="34" charset="0"/>
                </a:rPr>
                <a:t>SELECT 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ee.event_name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, s.name </a:t>
              </a:r>
              <a:r>
                <a:rPr lang="en-US" dirty="0">
                  <a:latin typeface="Arial Black" panose="020B0A04020102020204" pitchFamily="34" charset="0"/>
                </a:rPr>
                <a:t>AS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Supply_Name,ed.quantity_dispatched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dirty="0">
                  <a:latin typeface="Arial Black" panose="020B0A04020102020204" pitchFamily="34" charset="0"/>
                  <a:cs typeface="Arial" panose="020B0604020202020204" pitchFamily="34" charset="0"/>
                </a:rPr>
                <a:t>   FROM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Emergency_Events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Arial Black" panose="020B0A04020102020204" pitchFamily="34" charset="0"/>
                </a:rPr>
                <a:t>INNER JOIN </a:t>
              </a:r>
            </a:p>
            <a:p>
              <a:r>
                <a:rPr lang="en-US" dirty="0">
                  <a:latin typeface="Arial Black" panose="020B0A04020102020204" pitchFamily="34" charset="0"/>
                </a:rPr>
                <a:t>   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ed </a:t>
              </a:r>
              <a:r>
                <a:rPr lang="en-US" dirty="0">
                  <a:latin typeface="Arial Black" panose="020B0A04020102020204" pitchFamily="34" charset="0"/>
                </a:rPr>
                <a:t>ON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ee.event_id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ed.event_id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 Black" panose="020B0A04020102020204" pitchFamily="34" charset="0"/>
                </a:rPr>
                <a:t>      INNER JOIN 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Supplies s</a:t>
              </a:r>
              <a:r>
                <a:rPr lang="en-US" dirty="0">
                  <a:latin typeface="Arial Black" panose="020B0A04020102020204" pitchFamily="34" charset="0"/>
                </a:rPr>
                <a:t> ON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ed.supply_id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684904-8BE9-6699-B165-8BD89F4E8E12}"/>
                </a:ext>
              </a:extLst>
            </p:cNvPr>
            <p:cNvSpPr txBox="1"/>
            <p:nvPr/>
          </p:nvSpPr>
          <p:spPr>
            <a:xfrm>
              <a:off x="11385995" y="5915318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6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4639E8A-11DD-F065-E35D-99F41DA0C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7622" y="2872189"/>
              <a:ext cx="4604084" cy="3689479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C85C1F-0C7E-D5F6-7E65-77E358B4463A}"/>
              </a:ext>
            </a:extLst>
          </p:cNvPr>
          <p:cNvGrpSpPr/>
          <p:nvPr/>
        </p:nvGrpSpPr>
        <p:grpSpPr>
          <a:xfrm>
            <a:off x="-379534" y="0"/>
            <a:ext cx="12099568" cy="6858000"/>
            <a:chOff x="0" y="0"/>
            <a:chExt cx="12099568" cy="6858000"/>
          </a:xfrm>
          <a:effectLst>
            <a:outerShdw blurRad="63500" dist="1143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6EB1F68-9FAC-D53B-A688-51A29AB4E9CB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5AA700-1DF2-3C24-53CA-6B81422E3E70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C0C0C0"/>
                  </a:highlight>
                  <a:latin typeface="Arial Black" panose="020B0A04020102020204" pitchFamily="34" charset="0"/>
                </a:rPr>
                <a:t>Retrieve Supplies with the Highest Quantity in Each Category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360CFE0-FEA5-6EF3-881C-49E2E7BB5CB1}"/>
                </a:ext>
              </a:extLst>
            </p:cNvPr>
            <p:cNvSpPr txBox="1"/>
            <p:nvPr/>
          </p:nvSpPr>
          <p:spPr>
            <a:xfrm>
              <a:off x="928053" y="1083401"/>
              <a:ext cx="10710748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SELECT  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s1.name </a:t>
              </a:r>
              <a:r>
                <a:rPr lang="en-US" sz="2000" dirty="0"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Supply_Name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s1.category, s1.reorder_level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Supplies s1 </a:t>
              </a:r>
              <a:r>
                <a:rPr lang="en-US" sz="2000" dirty="0">
                  <a:latin typeface="Arial Black" panose="020B0A04020102020204" pitchFamily="34" charset="0"/>
                </a:rPr>
                <a:t>WHERE 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s1.reorder_level = </a:t>
              </a:r>
              <a:r>
                <a:rPr lang="en-US" sz="2000" dirty="0">
                  <a:latin typeface="Arial Black" panose="020B0A04020102020204" pitchFamily="34" charset="0"/>
                </a:rPr>
                <a:t>(SELECT MAX(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s2.reorder_level)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Supplies s2 </a:t>
              </a:r>
              <a:r>
                <a:rPr lang="en-US" sz="2000" dirty="0">
                  <a:latin typeface="Arial Black" panose="020B0A04020102020204" pitchFamily="34" charset="0"/>
                </a:rPr>
                <a:t>WHERE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s2.category = s1.category)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    ORDER BY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s1.category;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D23BFD-8CA5-D0F2-EEC3-84839D91D67D}"/>
                </a:ext>
              </a:extLst>
            </p:cNvPr>
            <p:cNvSpPr/>
            <p:nvPr/>
          </p:nvSpPr>
          <p:spPr>
            <a:xfrm>
              <a:off x="9979233" y="4584013"/>
              <a:ext cx="1991032" cy="70792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0950BA2-0B01-6FE6-D928-77A87A30DE46}"/>
                </a:ext>
              </a:extLst>
            </p:cNvPr>
            <p:cNvSpPr txBox="1"/>
            <p:nvPr/>
          </p:nvSpPr>
          <p:spPr>
            <a:xfrm>
              <a:off x="11384901" y="4645586"/>
              <a:ext cx="71466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7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FD34B75C-3DC6-CE29-6282-D4DBCFAD7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0791" y="3218752"/>
              <a:ext cx="5432007" cy="3438442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35B2E80-0D68-FA4E-50FB-B3C8A0971D83}"/>
              </a:ext>
            </a:extLst>
          </p:cNvPr>
          <p:cNvGrpSpPr/>
          <p:nvPr/>
        </p:nvGrpSpPr>
        <p:grpSpPr>
          <a:xfrm>
            <a:off x="-446470" y="0"/>
            <a:ext cx="12338824" cy="6858000"/>
            <a:chOff x="0" y="0"/>
            <a:chExt cx="12338824" cy="6858000"/>
          </a:xfrm>
          <a:effectLst>
            <a:outerShdw blurRad="63500" dist="114300" dir="3000000" algn="tl" rotWithShape="0">
              <a:prstClr val="black">
                <a:alpha val="40000"/>
              </a:prstClr>
            </a:outerShdw>
          </a:effectLst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6F43CBB-26FD-3A59-784A-1509F22A6170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92AF60F-B399-E3DA-05A9-0071B3954BA7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List Suppliers and Their Average Lead Time for Supplies They Provide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2931425-7905-DD85-7238-B4D4FDA5FB98}"/>
                </a:ext>
              </a:extLst>
            </p:cNvPr>
            <p:cNvSpPr txBox="1"/>
            <p:nvPr/>
          </p:nvSpPr>
          <p:spPr>
            <a:xfrm>
              <a:off x="1031487" y="1179654"/>
              <a:ext cx="10710748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r>
                <a:rPr lang="en-US" sz="2000" dirty="0">
                  <a:latin typeface="Arial Black" panose="020B0A04020102020204" pitchFamily="34" charset="0"/>
                </a:rPr>
                <a:t>SELECT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sp.name 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Supplier_Name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>
                  <a:latin typeface="Arial Black" panose="020B0A04020102020204" pitchFamily="34" charset="0"/>
                </a:rPr>
                <a:t>AVG(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sp.lead_time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2000" dirty="0">
                  <a:latin typeface="Arial Black" panose="020B0A04020102020204" pitchFamily="34" charset="0"/>
                </a:rPr>
                <a:t>AS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Average_Lead_Time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latin typeface="Arial Black" panose="020B0A04020102020204" pitchFamily="34" charset="0"/>
                </a:rPr>
                <a:t>     FROM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Suppliers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</a:t>
              </a:r>
              <a:r>
                <a:rPr lang="en-US" sz="2000" dirty="0" err="1">
                  <a:latin typeface="Arial Black" panose="020B0A04020102020204" pitchFamily="34" charset="0"/>
                </a:rPr>
                <a:t>JOIN</a:t>
              </a:r>
              <a:r>
                <a:rPr lang="en-US" sz="2000" dirty="0">
                  <a:latin typeface="Arial Black" panose="020B0A04020102020204" pitchFamily="34" charset="0"/>
                </a:rPr>
                <a:t>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Supply_Orders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so </a:t>
              </a:r>
              <a:r>
                <a:rPr lang="en-US" sz="2000" dirty="0">
                  <a:latin typeface="Arial Black" panose="020B0A04020102020204" pitchFamily="34" charset="0"/>
                </a:rPr>
                <a:t>ON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sp.supplier_id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so.supplier_id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latin typeface="Arial Black" panose="020B0A04020102020204" pitchFamily="34" charset="0"/>
                </a:rPr>
                <a:t>      GROUP BY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sp.name</a:t>
              </a:r>
              <a:r>
                <a:rPr lang="en-US" sz="2000" dirty="0" err="1">
                  <a:latin typeface="Arial Black" panose="020B0A04020102020204" pitchFamily="34" charset="0"/>
                </a:rPr>
                <a:t>ORDER</a:t>
              </a:r>
              <a:r>
                <a:rPr lang="en-US" sz="2000" dirty="0">
                  <a:latin typeface="Arial Black" panose="020B0A04020102020204" pitchFamily="34" charset="0"/>
                </a:rPr>
                <a:t> BY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Average_Lead_Time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latin typeface="Arial Black" panose="020B0A04020102020204" pitchFamily="34" charset="0"/>
                </a:rPr>
                <a:t>ASC;</a:t>
              </a:r>
            </a:p>
            <a:p>
              <a:r>
                <a:rPr lang="en-US" sz="2000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A45201AB-B18C-0945-E942-8395430FB85D}"/>
                </a:ext>
              </a:extLst>
            </p:cNvPr>
            <p:cNvSpPr/>
            <p:nvPr/>
          </p:nvSpPr>
          <p:spPr>
            <a:xfrm>
              <a:off x="9994521" y="3188891"/>
              <a:ext cx="1991032" cy="70792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BAE8FC8-1353-CDC6-8571-69C5C6A68C81}"/>
                </a:ext>
              </a:extLst>
            </p:cNvPr>
            <p:cNvSpPr txBox="1"/>
            <p:nvPr/>
          </p:nvSpPr>
          <p:spPr>
            <a:xfrm>
              <a:off x="11365551" y="3250464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8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794EDA9C-A31E-1BB4-46C0-2B2105ED5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1677" y="2890334"/>
              <a:ext cx="5099777" cy="3850525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806C8ED-43B4-E68A-ACD6-47D19045084C}"/>
              </a:ext>
            </a:extLst>
          </p:cNvPr>
          <p:cNvGrpSpPr/>
          <p:nvPr/>
        </p:nvGrpSpPr>
        <p:grpSpPr>
          <a:xfrm>
            <a:off x="-714369" y="0"/>
            <a:ext cx="12350531" cy="6858000"/>
            <a:chOff x="0" y="0"/>
            <a:chExt cx="12350531" cy="6858000"/>
          </a:xfrm>
          <a:effectLst>
            <a:outerShdw blurRad="63500" dist="114300" dir="3000000" algn="tl" rotWithShape="0">
              <a:prstClr val="black">
                <a:alpha val="40000"/>
              </a:prstClr>
            </a:outerShdw>
          </a:effectLst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16187B4-FBD0-4426-3855-C63551FEAFD0}"/>
                </a:ext>
              </a:extLst>
            </p:cNvPr>
            <p:cNvSpPr/>
            <p:nvPr/>
          </p:nvSpPr>
          <p:spPr>
            <a:xfrm>
              <a:off x="0" y="0"/>
              <a:ext cx="11307337" cy="6858000"/>
            </a:xfrm>
            <a:prstGeom prst="rect">
              <a:avLst/>
            </a:prstGeom>
            <a:solidFill>
              <a:srgbClr val="605C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9EB6036-60C3-EBD9-0DB8-763C0EA80851}"/>
                </a:ext>
              </a:extLst>
            </p:cNvPr>
            <p:cNvSpPr txBox="1"/>
            <p:nvPr/>
          </p:nvSpPr>
          <p:spPr>
            <a:xfrm>
              <a:off x="59823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808080"/>
                  </a:highlight>
                  <a:latin typeface="Arial Black" panose="020B0A04020102020204" pitchFamily="34" charset="0"/>
                </a:rPr>
                <a:t>List Locations with Stock Levels Below Critical Thresholds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7367BB4-F0F3-9BFE-45BD-A4DE07A1F6A8}"/>
                </a:ext>
              </a:extLst>
            </p:cNvPr>
            <p:cNvSpPr txBox="1"/>
            <p:nvPr/>
          </p:nvSpPr>
          <p:spPr>
            <a:xfrm>
              <a:off x="1274805" y="1038799"/>
              <a:ext cx="10710748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Bodoni MT Black" panose="02070A03080606020203" pitchFamily="18" charset="0"/>
                </a:rPr>
                <a:t>Code:</a:t>
              </a:r>
            </a:p>
            <a:p>
              <a:endParaRPr lang="en-US" sz="2800" dirty="0">
                <a:latin typeface="Bodoni MT Black" panose="02070A03080606020203" pitchFamily="18" charset="0"/>
              </a:endParaRPr>
            </a:p>
            <a:p>
              <a:r>
                <a:rPr lang="en-US" sz="2400" dirty="0">
                  <a:latin typeface="Arial Black" panose="020B0A04020102020204" pitchFamily="34" charset="0"/>
                </a:rPr>
                <a:t>SELECT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s.location_id,s.supply_id,s.quantity</a:t>
              </a:r>
              <a:r>
                <a:rPr lang="en-US" sz="2400" dirty="0" err="1">
                  <a:latin typeface="Bodoni MT Black" panose="02070A03080606020203" pitchFamily="18" charset="0"/>
                </a:rPr>
                <a:t>,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sp.reorder_level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sz="2400" dirty="0">
                  <a:latin typeface="Arial Black" panose="020B0A04020102020204" pitchFamily="34" charset="0"/>
                </a:rPr>
                <a:t>FROM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Stock s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>
                  <a:latin typeface="Arial Black" panose="020B0A04020102020204" pitchFamily="34" charset="0"/>
                </a:rPr>
                <a:t>JOIN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Supplies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sz="2400" dirty="0">
                  <a:latin typeface="Arial Black" panose="020B0A04020102020204" pitchFamily="34" charset="0"/>
                </a:rPr>
                <a:t>    ON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s.supply_id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sp.supply_id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400" dirty="0">
                  <a:latin typeface="Arial Black" panose="020B0A04020102020204" pitchFamily="34" charset="0"/>
                </a:rPr>
                <a:t>    WHERE</a:t>
              </a:r>
              <a:r>
                <a:rPr lang="en-US" sz="2400" dirty="0">
                  <a:latin typeface="Bodoni MT Black" panose="02070A03080606020203" pitchFamily="18" charset="0"/>
                </a:rPr>
                <a:t>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s.quantity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&lt; </a:t>
              </a:r>
              <a:r>
                <a:rPr lang="en-US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sp.reorder_level</a:t>
              </a:r>
              <a:r>
                <a:rPr lang="en-US" sz="2400" dirty="0">
                  <a:latin typeface="Bodoni MT Black" panose="02070A03080606020203" pitchFamily="18" charset="0"/>
                </a:rPr>
                <a:t>;</a:t>
              </a:r>
            </a:p>
            <a:p>
              <a:endPara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8CB18E4-AD15-9ED7-B9E7-B9B26A2BE40C}"/>
                </a:ext>
              </a:extLst>
            </p:cNvPr>
            <p:cNvSpPr/>
            <p:nvPr/>
          </p:nvSpPr>
          <p:spPr>
            <a:xfrm>
              <a:off x="9994521" y="1716628"/>
              <a:ext cx="1991032" cy="707923"/>
            </a:xfrm>
            <a:prstGeom prst="roundRect">
              <a:avLst/>
            </a:prstGeom>
            <a:solidFill>
              <a:srgbClr val="605C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901B000-4AC2-B2FE-7D5D-214BBE6D37AE}"/>
                </a:ext>
              </a:extLst>
            </p:cNvPr>
            <p:cNvSpPr txBox="1"/>
            <p:nvPr/>
          </p:nvSpPr>
          <p:spPr>
            <a:xfrm>
              <a:off x="11377258" y="1749041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9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597D0DA9-0C7F-3460-1482-BD0F5AF31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72236" y="3927434"/>
              <a:ext cx="5429250" cy="1891767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81D500B-93F6-1600-1F19-3D712F522AB1}"/>
              </a:ext>
            </a:extLst>
          </p:cNvPr>
          <p:cNvGrpSpPr/>
          <p:nvPr/>
        </p:nvGrpSpPr>
        <p:grpSpPr>
          <a:xfrm>
            <a:off x="-975545" y="0"/>
            <a:ext cx="12695579" cy="6858000"/>
            <a:chOff x="-152391" y="0"/>
            <a:chExt cx="12695579" cy="6858000"/>
          </a:xfrm>
          <a:effectLst>
            <a:outerShdw blurRad="63500" dist="114300" dir="3000000" algn="tl" rotWithShape="0">
              <a:schemeClr val="tx1">
                <a:alpha val="40000"/>
              </a:schemeClr>
            </a:outerShdw>
          </a:effectLst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20C5036-2AE1-6ECC-2006-30405DDC6649}"/>
                </a:ext>
              </a:extLst>
            </p:cNvPr>
            <p:cNvSpPr/>
            <p:nvPr/>
          </p:nvSpPr>
          <p:spPr>
            <a:xfrm>
              <a:off x="-152391" y="0"/>
              <a:ext cx="11307337" cy="685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C98B5C2-8068-7D94-1F21-55783DD1A201}"/>
                </a:ext>
              </a:extLst>
            </p:cNvPr>
            <p:cNvSpPr txBox="1"/>
            <p:nvPr/>
          </p:nvSpPr>
          <p:spPr>
            <a:xfrm>
              <a:off x="1665172" y="496545"/>
              <a:ext cx="10878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highlight>
                    <a:srgbClr val="808080"/>
                  </a:highlight>
                  <a:latin typeface="Arial Black" panose="020B0A04020102020204" pitchFamily="34" charset="0"/>
                </a:rPr>
                <a:t>Predict Future Supply Needs Based on Past Usage Data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BBC4AD3-736A-CBEE-380D-5A70801960EE}"/>
                </a:ext>
              </a:extLst>
            </p:cNvPr>
            <p:cNvSpPr txBox="1"/>
            <p:nvPr/>
          </p:nvSpPr>
          <p:spPr>
            <a:xfrm>
              <a:off x="1651489" y="1118079"/>
              <a:ext cx="10710748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Code:</a:t>
              </a:r>
            </a:p>
            <a:p>
              <a:endParaRPr lang="en-US" sz="1200" dirty="0">
                <a:solidFill>
                  <a:schemeClr val="bg1"/>
                </a:solidFill>
                <a:latin typeface="Bodoni MT Black" panose="02070A03080606020203" pitchFamily="18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SELECT 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supply_id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AVG(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quantity_dispatched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)</a:t>
              </a:r>
            </a:p>
            <a:p>
              <a:r>
                <a:rPr lang="en-US" sz="20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     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AS</a:t>
              </a:r>
              <a:r>
                <a:rPr lang="en-US" sz="2000" dirty="0">
                  <a:solidFill>
                    <a:schemeClr val="bg1"/>
                  </a:solidFill>
                  <a:latin typeface="Bodoni MT Black" panose="02070A03080606020203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avg_quantity_dispatched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FROM 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Emergency_Distributions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         GROUP </a:t>
              </a:r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BY </a:t>
              </a:r>
              <a:r>
                <a:rPr lang="en-US" sz="2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supply_id</a:t>
              </a: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D16A978-6D58-943A-8343-CB47C0D02E99}"/>
                </a:ext>
              </a:extLst>
            </p:cNvPr>
            <p:cNvSpPr/>
            <p:nvPr/>
          </p:nvSpPr>
          <p:spPr>
            <a:xfrm>
              <a:off x="10466962" y="599870"/>
              <a:ext cx="1508368" cy="646348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B5494E0-ADF6-AD21-057D-ABCD195D2C9C}"/>
                </a:ext>
              </a:extLst>
            </p:cNvPr>
            <p:cNvSpPr txBox="1"/>
            <p:nvPr/>
          </p:nvSpPr>
          <p:spPr>
            <a:xfrm>
              <a:off x="11255598" y="661442"/>
              <a:ext cx="973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2">
                      <a:lumMod val="25000"/>
                    </a:schemeClr>
                  </a:solidFill>
                  <a:effectLst>
                    <a:innerShdw blurRad="63500" dist="114300" dir="10800000">
                      <a:prstClr val="black">
                        <a:alpha val="50000"/>
                      </a:prstClr>
                    </a:innerShdw>
                  </a:effectLst>
                  <a:latin typeface="Arial Black" panose="020B0A04020102020204" pitchFamily="34" charset="0"/>
                </a:rPr>
                <a:t>10</a:t>
              </a: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B2981F5-87D8-9E07-7547-E8008CB17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54873" y="3097650"/>
              <a:ext cx="3838575" cy="3381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2312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313C6-4223-82E9-6647-98A8B57C1867}"/>
              </a:ext>
            </a:extLst>
          </p:cNvPr>
          <p:cNvSpPr txBox="1"/>
          <p:nvPr/>
        </p:nvSpPr>
        <p:spPr>
          <a:xfrm>
            <a:off x="2816937" y="2182761"/>
            <a:ext cx="91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rial Black" panose="020B0A04020102020204" pitchFamily="34" charset="0"/>
              </a:rPr>
              <a:t>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E5D5-153B-ECC7-EA44-16694D0102E2}"/>
              </a:ext>
            </a:extLst>
          </p:cNvPr>
          <p:cNvSpPr txBox="1"/>
          <p:nvPr/>
        </p:nvSpPr>
        <p:spPr>
          <a:xfrm>
            <a:off x="3554357" y="2182760"/>
            <a:ext cx="91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rial Black" panose="020B0A04020102020204" pitchFamily="34" charset="0"/>
              </a:rPr>
              <a:t>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11C78-0271-2896-A5E8-BF541FEC7A4F}"/>
              </a:ext>
            </a:extLst>
          </p:cNvPr>
          <p:cNvSpPr txBox="1"/>
          <p:nvPr/>
        </p:nvSpPr>
        <p:spPr>
          <a:xfrm>
            <a:off x="4424514" y="2182759"/>
            <a:ext cx="91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rial Black" panose="020B0A04020102020204" pitchFamily="34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FC8512-84B5-A0D5-8C8C-FFD36BEEC3D1}"/>
              </a:ext>
            </a:extLst>
          </p:cNvPr>
          <p:cNvSpPr txBox="1"/>
          <p:nvPr/>
        </p:nvSpPr>
        <p:spPr>
          <a:xfrm>
            <a:off x="5220934" y="2179295"/>
            <a:ext cx="91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rial Black" panose="020B0A04020102020204" pitchFamily="34" charset="0"/>
              </a:rPr>
              <a:t>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AFB75-5366-8315-8CD8-8660D9E61515}"/>
              </a:ext>
            </a:extLst>
          </p:cNvPr>
          <p:cNvSpPr txBox="1"/>
          <p:nvPr/>
        </p:nvSpPr>
        <p:spPr>
          <a:xfrm>
            <a:off x="6032091" y="2175831"/>
            <a:ext cx="91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rial Black" panose="020B0A04020102020204" pitchFamily="34" charset="0"/>
              </a:rPr>
              <a:t>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C39656-4395-E68F-1DB6-3FE102662731}"/>
              </a:ext>
            </a:extLst>
          </p:cNvPr>
          <p:cNvSpPr txBox="1"/>
          <p:nvPr/>
        </p:nvSpPr>
        <p:spPr>
          <a:xfrm>
            <a:off x="4852226" y="3016045"/>
            <a:ext cx="91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rial Black" panose="020B0A04020102020204" pitchFamily="34" charset="0"/>
              </a:rPr>
              <a:t>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4CD79A-780A-8A24-EC90-37E4EAA922D1}"/>
              </a:ext>
            </a:extLst>
          </p:cNvPr>
          <p:cNvSpPr txBox="1"/>
          <p:nvPr/>
        </p:nvSpPr>
        <p:spPr>
          <a:xfrm>
            <a:off x="5515921" y="3045542"/>
            <a:ext cx="91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rial Black" panose="020B0A04020102020204" pitchFamily="34" charset="0"/>
              </a:rPr>
              <a:t>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5D09A-E867-DE47-1D95-55AAF6BB37AC}"/>
              </a:ext>
            </a:extLst>
          </p:cNvPr>
          <p:cNvSpPr txBox="1"/>
          <p:nvPr/>
        </p:nvSpPr>
        <p:spPr>
          <a:xfrm>
            <a:off x="6268108" y="3075039"/>
            <a:ext cx="91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rial Black" panose="020B0A04020102020204" pitchFamily="34" charset="0"/>
              </a:rPr>
              <a:t>U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BDD4FB-180B-4375-E96F-F1280F525753}"/>
              </a:ext>
            </a:extLst>
          </p:cNvPr>
          <p:cNvGrpSpPr/>
          <p:nvPr/>
        </p:nvGrpSpPr>
        <p:grpSpPr>
          <a:xfrm>
            <a:off x="7167779" y="2234825"/>
            <a:ext cx="5294627" cy="2163653"/>
            <a:chOff x="7182508" y="2234825"/>
            <a:chExt cx="4928418" cy="216365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137DB1-6570-2B7B-50E1-D0853FAA3F7A}"/>
                </a:ext>
              </a:extLst>
            </p:cNvPr>
            <p:cNvSpPr/>
            <p:nvPr/>
          </p:nvSpPr>
          <p:spPr>
            <a:xfrm>
              <a:off x="7352129" y="2234825"/>
              <a:ext cx="4758797" cy="21636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6F5EDBD-0ED0-7541-7C89-365E4C165D21}"/>
                </a:ext>
              </a:extLst>
            </p:cNvPr>
            <p:cNvSpPr/>
            <p:nvPr/>
          </p:nvSpPr>
          <p:spPr>
            <a:xfrm>
              <a:off x="7182508" y="2234825"/>
              <a:ext cx="176957" cy="2163653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46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81481E-6 L -0.36706 0.00024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4924</Words>
  <Application>Microsoft Office PowerPoint</Application>
  <PresentationFormat>Widescreen</PresentationFormat>
  <Paragraphs>810</Paragraphs>
  <Slides>37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Agency FB</vt:lpstr>
      <vt:lpstr>Algerian</vt:lpstr>
      <vt:lpstr>Arial</vt:lpstr>
      <vt:lpstr>Arial Black</vt:lpstr>
      <vt:lpstr>Bernard MT Condensed</vt:lpstr>
      <vt:lpstr>Bodoni MT Black</vt:lpstr>
      <vt:lpstr>Calibri</vt:lpstr>
      <vt:lpstr>Calibri Light</vt:lpstr>
      <vt:lpstr>Cascadia Mono SemiBold</vt:lpstr>
      <vt:lpstr>Courier New</vt:lpstr>
      <vt:lpstr>Wide Latin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Tanisha Taranoon</dc:creator>
  <cp:lastModifiedBy>Tanisha Taranoon</cp:lastModifiedBy>
  <cp:revision>16</cp:revision>
  <dcterms:created xsi:type="dcterms:W3CDTF">2024-11-26T21:07:23Z</dcterms:created>
  <dcterms:modified xsi:type="dcterms:W3CDTF">2024-12-07T13:07:01Z</dcterms:modified>
</cp:coreProperties>
</file>